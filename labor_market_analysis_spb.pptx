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ink/ink1.xml" ContentType="application/inkml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ink/ink2.xml" ContentType="application/inkml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5" r:id="rId2"/>
    <p:sldId id="258" r:id="rId3"/>
    <p:sldId id="260" r:id="rId4"/>
    <p:sldId id="261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знецова Анастасия Андреевна" initials="КАА" lastIdx="1" clrIdx="0">
    <p:extLst>
      <p:ext uri="{19B8F6BF-5375-455C-9EA6-DF929625EA0E}">
        <p15:presenceInfo xmlns:p15="http://schemas.microsoft.com/office/powerpoint/2012/main" userId="Кузнецова Анастасия Андр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 autoAdjust="0"/>
    <p:restoredTop sz="94675"/>
  </p:normalViewPr>
  <p:slideViewPr>
    <p:cSldViewPr snapToGrid="0">
      <p:cViewPr varScale="1">
        <p:scale>
          <a:sx n="119" d="100"/>
          <a:sy n="119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_____Microsoft_Excel2.xlsx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8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женщин по возрастым группам</a:t>
            </a:r>
            <a:endParaRPr lang="ru-RU" sz="11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Sheet1!$B$24</c:f>
              <c:strCache>
                <c:ptCount val="1"/>
                <c:pt idx="0">
                  <c:v>Моложе трудоспособного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Sheet1!$A$25:$A$27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Sheet1!$B$25:$B$27</c:f>
              <c:numCache>
                <c:formatCode>General</c:formatCode>
                <c:ptCount val="3"/>
                <c:pt idx="0">
                  <c:v>400149</c:v>
                </c:pt>
                <c:pt idx="1">
                  <c:v>426949</c:v>
                </c:pt>
                <c:pt idx="2">
                  <c:v>414499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12-47CF-9227-F0AE08ACD760}"/>
            </c:ext>
          </c:extLst>
        </c:ser>
        <c:ser>
          <c:idx val="1"/>
          <c:order val="1"/>
          <c:tx>
            <c:strRef>
              <c:f>Sheet1!$C$24</c:f>
              <c:strCache>
                <c:ptCount val="1"/>
                <c:pt idx="0">
                  <c:v>В трудоспособном возрасте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Sheet1!$A$25:$A$27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Sheet1!$C$25:$C$27</c:f>
              <c:numCache>
                <c:formatCode>General</c:formatCode>
                <c:ptCount val="3"/>
                <c:pt idx="0">
                  <c:v>1502374</c:v>
                </c:pt>
                <c:pt idx="1">
                  <c:v>1500491</c:v>
                </c:pt>
                <c:pt idx="2">
                  <c:v>1668333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12-47CF-9227-F0AE08ACD760}"/>
            </c:ext>
          </c:extLst>
        </c:ser>
        <c:ser>
          <c:idx val="2"/>
          <c:order val="2"/>
          <c:tx>
            <c:strRef>
              <c:f>Sheet1!$D$24</c:f>
              <c:strCache>
                <c:ptCount val="1"/>
                <c:pt idx="0">
                  <c:v>Старше трудоспособного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Sheet1!$A$25:$A$27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Sheet1!$D$25:$D$27</c:f>
              <c:numCache>
                <c:formatCode>General</c:formatCode>
                <c:ptCount val="3"/>
                <c:pt idx="0">
                  <c:v>1027337</c:v>
                </c:pt>
                <c:pt idx="1">
                  <c:v>1020828</c:v>
                </c:pt>
                <c:pt idx="2">
                  <c:v>991826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12-47CF-9227-F0AE08ACD7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8386280"/>
        <c:axId val="438383328"/>
      </c:lineChart>
      <c:catAx>
        <c:axId val="438386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38383328"/>
        <c:crosses val="autoZero"/>
        <c:auto val="1"/>
        <c:lblAlgn val="ctr"/>
        <c:lblOffset val="100"/>
        <c:noMultiLvlLbl val="0"/>
      </c:catAx>
      <c:valAx>
        <c:axId val="438383328"/>
        <c:scaling>
          <c:orientation val="minMax"/>
          <c:max val="1670000"/>
          <c:min val="4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38386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</a:t>
            </a:r>
            <a:r>
              <a:rPr lang="ru-RU" sz="1400" b="0" i="0" u="none" strike="noStrik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ика</a:t>
            </a:r>
            <a:r>
              <a:rPr lang="ru-RU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u="none" strike="noStrik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ужчин по возрасты</a:t>
            </a:r>
            <a:r>
              <a:rPr lang="ru-RU" sz="1400" b="0" i="0" u="none" strike="noStrik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группа</a:t>
            </a:r>
            <a:r>
              <a:rPr lang="ru-RU" sz="1400" b="0" i="0" u="none" strike="noStrik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Sheet1!$B$11</c:f>
              <c:strCache>
                <c:ptCount val="1"/>
                <c:pt idx="0">
                  <c:v>Моложе трудоспособного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Sheet1!$A$12:$A$14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Sheet1!$B$12:$B$14</c:f>
              <c:numCache>
                <c:formatCode>General</c:formatCode>
                <c:ptCount val="3"/>
                <c:pt idx="0">
                  <c:v>422709</c:v>
                </c:pt>
                <c:pt idx="1">
                  <c:v>452547</c:v>
                </c:pt>
                <c:pt idx="2">
                  <c:v>36856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7C-4967-B633-2B3F4F331564}"/>
            </c:ext>
          </c:extLst>
        </c:ser>
        <c:ser>
          <c:idx val="1"/>
          <c:order val="1"/>
          <c:tx>
            <c:strRef>
              <c:f>Sheet1!$C$11</c:f>
              <c:strCache>
                <c:ptCount val="1"/>
                <c:pt idx="0">
                  <c:v>В трудоспособном возрасте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Sheet1!$A$12:$A$14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Sheet1!$C$12:$C$14</c:f>
              <c:numCache>
                <c:formatCode>General</c:formatCode>
                <c:ptCount val="3"/>
                <c:pt idx="0">
                  <c:v>1585327</c:v>
                </c:pt>
                <c:pt idx="1">
                  <c:v>1567271</c:v>
                </c:pt>
                <c:pt idx="2">
                  <c:v>1686830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7C-4967-B633-2B3F4F331564}"/>
            </c:ext>
          </c:extLst>
        </c:ser>
        <c:ser>
          <c:idx val="2"/>
          <c:order val="2"/>
          <c:tx>
            <c:strRef>
              <c:f>Sheet1!$D$11</c:f>
              <c:strCache>
                <c:ptCount val="1"/>
                <c:pt idx="0">
                  <c:v>Старше трудоспособного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Sheet1!$A$12:$A$14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Sheet1!$D$12:$D$14</c:f>
              <c:numCache>
                <c:formatCode>General</c:formatCode>
                <c:ptCount val="3"/>
                <c:pt idx="0">
                  <c:v>414039</c:v>
                </c:pt>
                <c:pt idx="1">
                  <c:v>416256</c:v>
                </c:pt>
                <c:pt idx="2">
                  <c:v>397419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7C-4967-B633-2B3F4F331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0930048"/>
        <c:axId val="370921520"/>
      </c:lineChart>
      <c:catAx>
        <c:axId val="37093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0921520"/>
        <c:crosses val="autoZero"/>
        <c:auto val="1"/>
        <c:lblAlgn val="ctr"/>
        <c:lblOffset val="100"/>
        <c:noMultiLvlLbl val="0"/>
      </c:catAx>
      <c:valAx>
        <c:axId val="370921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0930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Sheet1!$F$3</c:f>
              <c:strCache>
                <c:ptCount val="1"/>
                <c:pt idx="0">
                  <c:v>Численность населения всего, чел.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Sheet1!$G$2:$J$2</c:f>
              <c:numCache>
                <c:formatCode>General</c:formatCode>
                <c:ptCount val="4"/>
                <c:pt idx="0">
                  <c:v>2015</c:v>
                </c:pt>
                <c:pt idx="1">
                  <c:v>2018</c:v>
                </c:pt>
                <c:pt idx="2">
                  <c:v>2021</c:v>
                </c:pt>
                <c:pt idx="3">
                  <c:v>2024</c:v>
                </c:pt>
              </c:numCache>
            </c:numRef>
          </c:cat>
          <c:val>
            <c:numRef>
              <c:f>Sheet1!$G$3:$J$3</c:f>
              <c:numCache>
                <c:formatCode>#,##0</c:formatCode>
                <c:ptCount val="4"/>
                <c:pt idx="0">
                  <c:v>5225700</c:v>
                </c:pt>
                <c:pt idx="1">
                  <c:v>5351935</c:v>
                </c:pt>
                <c:pt idx="2">
                  <c:v>5384342</c:v>
                </c:pt>
                <c:pt idx="3">
                  <c:v>5597763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FF-4742-9600-868D862B99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4156160"/>
        <c:axId val="384156488"/>
      </c:lineChart>
      <c:catAx>
        <c:axId val="38415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4156488"/>
        <c:crosses val="autoZero"/>
        <c:auto val="1"/>
        <c:lblAlgn val="ctr"/>
        <c:lblOffset val="100"/>
        <c:noMultiLvlLbl val="0"/>
      </c:catAx>
      <c:valAx>
        <c:axId val="384156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4156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Занятые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'[Книга (2).xlsx]Лист1'!$K$8</c:f>
              <c:strCache>
                <c:ptCount val="1"/>
                <c:pt idx="0">
                  <c:v>Мужчины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'[Книга (2).xlsx]Лист1'!$J$9:$J$11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'[Книга (2).xlsx]Лист1'!$K$9:$K$11</c:f>
              <c:numCache>
                <c:formatCode>0.0</c:formatCode>
                <c:ptCount val="3"/>
                <c:pt idx="0" formatCode="General">
                  <c:v>1503.7</c:v>
                </c:pt>
                <c:pt idx="1">
                  <c:v>1515.3</c:v>
                </c:pt>
                <c:pt idx="2" formatCode="General">
                  <c:v>1577.4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5-5C42-860A-BC37B6643A98}"/>
            </c:ext>
          </c:extLst>
        </c:ser>
        <c:ser>
          <c:idx val="1"/>
          <c:order val="1"/>
          <c:tx>
            <c:strRef>
              <c:f>'[Книга (2).xlsx]Лист1'!$L$8</c:f>
              <c:strCache>
                <c:ptCount val="1"/>
                <c:pt idx="0">
                  <c:v>Женщины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'[Книга (2).xlsx]Лист1'!$J$9:$J$11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'[Книга (2).xlsx]Лист1'!$L$9:$L$11</c:f>
              <c:numCache>
                <c:formatCode>0.0</c:formatCode>
                <c:ptCount val="3"/>
                <c:pt idx="0" formatCode="General">
                  <c:v>1512.7</c:v>
                </c:pt>
                <c:pt idx="1">
                  <c:v>1527.6</c:v>
                </c:pt>
                <c:pt idx="2" formatCode="General">
                  <c:v>1637.3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E5-5C42-860A-BC37B6643A98}"/>
            </c:ext>
          </c:extLst>
        </c:ser>
        <c:ser>
          <c:idx val="2"/>
          <c:order val="2"/>
          <c:tx>
            <c:strRef>
              <c:f>'[Книга (2).xlsx]Лист1'!$M$8</c:f>
              <c:strCache>
                <c:ptCount val="1"/>
                <c:pt idx="0">
                  <c:v>Всего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'[Книга (2).xlsx]Лист1'!$J$9:$J$11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'[Книга (2).xlsx]Лист1'!$M$9:$M$11</c:f>
              <c:numCache>
                <c:formatCode>0.0</c:formatCode>
                <c:ptCount val="3"/>
                <c:pt idx="0" formatCode="General">
                  <c:v>3016.4</c:v>
                </c:pt>
                <c:pt idx="1">
                  <c:v>3042.9</c:v>
                </c:pt>
                <c:pt idx="2">
                  <c:v>3214.7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E5-5C42-860A-BC37B6643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0582720"/>
        <c:axId val="1470581824"/>
      </c:barChart>
      <c:catAx>
        <c:axId val="147058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0581824"/>
        <c:crosses val="autoZero"/>
        <c:auto val="1"/>
        <c:lblAlgn val="ctr"/>
        <c:lblOffset val="100"/>
        <c:noMultiLvlLbl val="0"/>
      </c:catAx>
      <c:valAx>
        <c:axId val="1470581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0582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Численность рабочей силы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'[Книга (2).xlsx]Лист1'!$K$8</c:f>
              <c:strCache>
                <c:ptCount val="1"/>
                <c:pt idx="0">
                  <c:v>Мужчины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'[Книга (2).xlsx]Лист1'!$J$9:$J$11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'[Книга (2).xlsx]Лист1'!$K$9:$K$11</c:f>
              <c:numCache>
                <c:formatCode>0.0</c:formatCode>
                <c:ptCount val="3"/>
                <c:pt idx="0" formatCode="General">
                  <c:v>1503.7</c:v>
                </c:pt>
                <c:pt idx="1">
                  <c:v>1515.3</c:v>
                </c:pt>
                <c:pt idx="2" formatCode="General">
                  <c:v>1577.4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5D-3647-AE24-BDDCC427E443}"/>
            </c:ext>
          </c:extLst>
        </c:ser>
        <c:ser>
          <c:idx val="1"/>
          <c:order val="1"/>
          <c:tx>
            <c:strRef>
              <c:f>'[Книга (2).xlsx]Лист1'!$L$8</c:f>
              <c:strCache>
                <c:ptCount val="1"/>
                <c:pt idx="0">
                  <c:v>Женщины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'[Книга (2).xlsx]Лист1'!$J$9:$J$11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'[Книга (2).xlsx]Лист1'!$L$9:$L$11</c:f>
              <c:numCache>
                <c:formatCode>0.0</c:formatCode>
                <c:ptCount val="3"/>
                <c:pt idx="0" formatCode="General">
                  <c:v>1512.7</c:v>
                </c:pt>
                <c:pt idx="1">
                  <c:v>1527.6</c:v>
                </c:pt>
                <c:pt idx="2" formatCode="General">
                  <c:v>1637.3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5D-3647-AE24-BDDCC427E443}"/>
            </c:ext>
          </c:extLst>
        </c:ser>
        <c:ser>
          <c:idx val="2"/>
          <c:order val="2"/>
          <c:tx>
            <c:strRef>
              <c:f>'[Книга (2).xlsx]Лист1'!$M$8</c:f>
              <c:strCache>
                <c:ptCount val="1"/>
                <c:pt idx="0">
                  <c:v>Всего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'[Книга (2).xlsx]Лист1'!$J$9:$J$11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cat>
          <c:val>
            <c:numRef>
              <c:f>'[Книга (2).xlsx]Лист1'!$M$9:$M$11</c:f>
              <c:numCache>
                <c:formatCode>0.0</c:formatCode>
                <c:ptCount val="3"/>
                <c:pt idx="0" formatCode="General">
                  <c:v>3016.4</c:v>
                </c:pt>
                <c:pt idx="1">
                  <c:v>3042.9</c:v>
                </c:pt>
                <c:pt idx="2">
                  <c:v>3214.7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5D-3647-AE24-BDDCC427E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0581824"/>
        <c:axId val="1470588544"/>
      </c:barChart>
      <c:catAx>
        <c:axId val="1470581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0588544"/>
        <c:crosses val="autoZero"/>
        <c:auto val="1"/>
        <c:lblAlgn val="ctr"/>
        <c:lblOffset val="100"/>
        <c:noMultiLvlLbl val="0"/>
      </c:catAx>
      <c:valAx>
        <c:axId val="147058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0581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'[Книга (2).xlsx]Лист1'!$A$20</c:f>
              <c:strCache>
                <c:ptCount val="1"/>
                <c:pt idx="0">
                  <c:v>Уровень участия населения в рабочей силе (в 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'[Книга (2).xlsx]Лист1'!$B$18:$E$19</c:f>
              <c:multiLvlStrCache>
                <c:ptCount val="4"/>
                <c:lvl>
                  <c:pt idx="1">
                    <c:v>2018</c:v>
                  </c:pt>
                  <c:pt idx="2">
                    <c:v>2021</c:v>
                  </c:pt>
                  <c:pt idx="3">
                    <c:v>2024</c:v>
                  </c:pt>
                </c:lvl>
                <c:lvl/>
              </c:multiLvlStrCache>
            </c:multiLvlStrRef>
          </c:cat>
          <c:val>
            <c:numRef>
              <c:f>'[Книга (2).xlsx]Лист1'!$B$20:$E$20</c:f>
              <c:numCache>
                <c:formatCode>0.0</c:formatCode>
                <c:ptCount val="4"/>
                <c:pt idx="1">
                  <c:v>67</c:v>
                </c:pt>
                <c:pt idx="2">
                  <c:v>68.3</c:v>
                </c:pt>
                <c:pt idx="3">
                  <c:v>68.099999999999994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6A-BC4F-BC63-8F060E0CD3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12718912"/>
        <c:axId val="1427141312"/>
      </c:barChart>
      <c:catAx>
        <c:axId val="1412718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27141312"/>
        <c:crosses val="autoZero"/>
        <c:auto val="1"/>
        <c:lblAlgn val="ctr"/>
        <c:lblOffset val="100"/>
        <c:noMultiLvlLbl val="0"/>
      </c:catAx>
      <c:valAx>
        <c:axId val="1427141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12718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Лист2!$A$2</c:f>
              <c:strCache>
                <c:ptCount val="1"/>
                <c:pt idx="0">
                  <c:v>Работники в режиме неполного рабочего времени, тыс. чел.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Лист2!$B$1:$C$1</c:f>
              <c:strCache>
                <c:ptCount val="2"/>
                <c:pt idx="0">
                  <c:v>2021 год</c:v>
                </c:pt>
                <c:pt idx="1">
                  <c:v>2024 год</c:v>
                </c:pt>
              </c:strCache>
            </c:strRef>
          </c:cat>
          <c:val>
            <c:numRef>
              <c:f>Лист2!$B$2:$C$2</c:f>
              <c:numCache>
                <c:formatCode>General</c:formatCode>
                <c:ptCount val="2"/>
                <c:pt idx="0">
                  <c:v>84.2</c:v>
                </c:pt>
                <c:pt idx="1">
                  <c:v>67.3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F7-1E48-8D1A-8D12B08B67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8761888"/>
        <c:axId val="1788399088"/>
      </c:lineChart>
      <c:catAx>
        <c:axId val="1788761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88399088"/>
        <c:crosses val="autoZero"/>
        <c:auto val="1"/>
        <c:lblAlgn val="ctr"/>
        <c:lblOffset val="100"/>
        <c:noMultiLvlLbl val="0"/>
      </c:catAx>
      <c:valAx>
        <c:axId val="178839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88761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00:13:15.805"/>
    </inkml:context>
    <inkml:brush xml:id="br0">
      <inkml:brushProperty name="width" value="0.11429" units="cm"/>
      <inkml:brushProperty name="height" value="0.11429" units="cm"/>
      <inkml:brushProperty name="color" value="#FFFFFF"/>
    </inkml:brush>
  </inkml:definitions>
  <inkml:trace contextRef="#ctx0" brushRef="#br0">299 0 9717,'-42'31'111,"9"-8"1,-17 21 0,-7 10-1,-1-2 1,0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00:13:15.805"/>
    </inkml:context>
    <inkml:brush xml:id="br0">
      <inkml:brushProperty name="width" value="0.11429" units="cm"/>
      <inkml:brushProperty name="height" value="0.11429" units="cm"/>
      <inkml:brushProperty name="color" value="#FFFFFF"/>
    </inkml:brush>
  </inkml:definitions>
  <inkml:trace contextRef="#ctx0" brushRef="#br0">299 0 9717,'-42'31'111,"9"-8"1,-17 21 0,-7 10-1,-1-2 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F168B-0B22-4344-B7D2-EB27BAED0AE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4B8E9-2B03-4E99-AE5F-6A9FE3641F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41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15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33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91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Рисунок 1: Численность и структура занятого населения по видам экономической деятельности в динамике за 2018, 2022, 2023 годы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Источники: составлено авторами на основе данных Регионы России. Социально-экономические показатели составлено по данным Росстата для Санкт-Петербурга за 2018,2022,2023г [1],[2],[3] (сделан на основе таблицы1)</a:t>
            </a:r>
            <a:endParaRPr lang="en-US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Рисунок 2: Списочная численность работников организаций по профессиональным группам в Санкт-Петербурге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Источники: составлено авторами на основе данных Росстата для Санкт-Петербурга за 2020,2024г [4],[6] (сделан на основе таблицы2)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88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Рисунок 3: Динамика средней заработной платы по видам экономической деятельности за (2018, 2024)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Источники: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составлено авторами на основе данных Росстата для Санкт-Петербурга за 2020,2024г [7],[9] (сделан на основе таблицы3)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1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Источники: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Итоги выборочных обследований рабочей силы в Санкт-Петербурге за 2015, 2018, 2021, 2024 годы. – Федеральная служба государственной статистики,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RU" dirty="0"/>
              <a:t>2.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Возрастно-половой состав населения Санкт-Петербурга на 1 января 2024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2024. Возрастно-половой состав населения Санкт-Петербурга на 1 января 2021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2021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Возрастно-половой состав населения Санкт-Петербурга на 1 января 2018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2018. </a:t>
            </a:r>
          </a:p>
          <a:p>
            <a:pPr lvl="0"/>
            <a:r>
              <a:rPr lang="ru-RU" dirty="0"/>
              <a:t>3.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Составлено по данным Росстата для Санкт-Петербурга за 2024г., 25 стр., раздел 4.1, стр.28, раздел 3.15; 2022г., 47 стр., раздел 4.1.1 и 4.1.2. (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тыс.человек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стр.26, раздел 4.4.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Составлено по данным Росстата для Санкт-Петербурга за 2024г., раздел 3.3; за 2022г.; за 2021г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Составлено по данным Росстата для Санкт-Петербурга за 2024г., раздел 3.6; за 2022г., за 2021г.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Составлено авторами по данным Росстата для Санкт-Петербурга за 2028г., стр. 38-45., раздел 4.1.2, 4.2, 4.10, 4.11; за 2021г., стр. 25-27., раздел 4.1, 4.3, 4.4; за 2024г., стр. 25-27, раздел 4.1, 4.3, 4.4.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Неполная занятость и движение работников организаций Санкт-Петербурга в 2021 году,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стр. 1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Неполная занятость и движение работников организаций Санкт-Петербурга в 2024 году,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стр.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Составлено авторами на основе данных Росстата для Санкт-Петербурга за 2020,2022,2024г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1D074-9E65-4FD8-AA03-D99161CAC24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982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Источники: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Итоги выборочных обследований рабочей силы в Санкт-Петербурге за 2015, 2018, 2021, 2024 годы. – Федеральная служба государственной статистики,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RU" dirty="0"/>
              <a:t>2.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Возрастно-половой состав населения Санкт-Петербурга на 1 января 2024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2024. Возрастно-половой состав населения Санкт-Петербурга на 1 января 2021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2021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Возрастно-половой состав населения Санкт-Петербурга на 1 января 2018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2018. </a:t>
            </a:r>
          </a:p>
          <a:p>
            <a:pPr lvl="0"/>
            <a:r>
              <a:rPr lang="ru-RU" dirty="0"/>
              <a:t>3.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Составлено по данным Росстата для Санкт-Петербурга за 2024г., 25 стр., раздел 4.1, стр.28, раздел 3.15; 2022г., 47 стр., раздел 4.1.1 и 4.1.2. (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тыс.человек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стр.26, раздел 4.4.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Составлено по данным Росстата для Санкт-Петербурга за 2024г., раздел 3.3; за 2022г.; за 2021г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Составлено по данным Росстата для Санкт-Петербурга за 2024г., раздел 3.6; за 2022г., за 2021г.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Составлено авторами по данным Росстата для Санкт-Петербурга за 2028г., стр. 38-45., раздел 4.1.2, 4.2, 4.10, 4.11; за 2021г., стр. 25-27., раздел 4.1, 4.3, 4.4; за 2024г., стр. 25-27, раздел 4.1, 4.3, 4.4.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Неполная занятость и движение работников организаций Санкт-Петербурга в 2021 году,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стр. 1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Неполная занятость и движение работников организаций Санкт-Петербурга в 2024 году,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стр.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Составлено авторами на основе данных Росстата для Санкт-Петербурга за 2020,2022,2024г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Государственная программа «Содействие занятости населения в Санкт-Петербурге». – Постановление Правительства Санкт-Петербурга, 2015–2024 гг.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Национальный проект «Кадры». – Министерство образования и науки Российской Федерации, 2019–2030 гг.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 Национальный проект «Производительность труда и поддержка занятости». – Министерство труда и социальной защиты Российской Федерации, 2018–2030 гг. оформи источники по госту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1D074-9E65-4FD8-AA03-D99161CAC24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281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Источники: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Итоги выборочных обследований рабочей силы в Санкт-Петербурге за 2015, 2018, 2021, 2024 годы. – Федеральная служба государственной статистики,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RU" dirty="0"/>
              <a:t>2.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Возрастно-половой состав населения Санкт-Петербурга на 1 января 2024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2024. Возрастно-половой состав населения Санкт-Петербурга на 1 января 2021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2021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Возрастно-половой состав населения Санкт-Петербурга на 1 января 2018 года // Статистический бюллетень. — СПб.: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2018. </a:t>
            </a:r>
          </a:p>
          <a:p>
            <a:pPr lvl="0"/>
            <a:r>
              <a:rPr lang="ru-RU" dirty="0"/>
              <a:t>3.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Составлено по данным Росстата для Санкт-Петербурга за 2024г., 25 стр., раздел 4.1, стр.28, раздел 3.15; 2022г., 47 стр., раздел 4.1.1 и 4.1.2. (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тыс.человек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стр.26, раздел 4.4.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Составлено по данным Росстата для Санкт-Петербурга за 2024г., раздел 3.3; за 2022г.; за 2021г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Составлено по данным Росстата для Санкт-Петербурга за 2024г., раздел 3.6; за 2022г., за 2021г.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Составлено авторами по данным Росстата для Санкт-Петербурга за 2028г., стр. 38-45., раздел 4.1.2, 4.2, 4.10, 4.11; за 2021г., стр. 25-27., раздел 4.1, 4.3, 4.4; за 2024г., стр. 25-27, раздел 4.1, 4.3, 4.4.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Неполная занятость и движение работников организаций Санкт-Петербурга в 2021 году,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стр. 1</a:t>
            </a:r>
          </a:p>
          <a:p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Неполная занятость и движение работников организаций Санкт-Петербурга в 2024 году,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Петростат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стр.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Составлено авторами на основе данных Росстата для Санкт-Петербурга за 2020,2022,2024г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Государственная программа «Содействие занятости населения в Санкт-Петербурге». – Постановление Правительства Санкт-Петербурга, 2015–2024 гг.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Национальный проект «Кадры». – Министерство образования и науки Российской Федерации, 2019–2030 гг.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 Национальный проект «Производительность труда и поддержка занятости». – Министерство труда и социальной защиты Российской Федерации, 2018–2030 гг. оформи источники по госту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1D074-9E65-4FD8-AA03-D99161CAC24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62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04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2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91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91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59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145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956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09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92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42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061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7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82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01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6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E26CE-BD29-423D-91B1-A23C238C79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628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i-dpo.ru/about" TargetMode="External"/><Relationship Id="rId2" Type="http://schemas.openxmlformats.org/officeDocument/2006/relationships/hyperlink" Target="https://docs.cntd.ru/document/82240359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mintrud.gov.ru/uploads/editor/e1/2c/%D0%A4%D0%B5%D0%B4%D0%B5%D1%80%D0%B0%D0%BB%D1%8C%D0%BD%D1%8B%D0%B9%20%D0%BF%D1%80%D0%BE%D0%B5%D0%BA%D1%82%20%D0%90%D0%BA%D1%82%D0%B8%D0%B2%D0%BD%D1%8B%D0%B5%20%D0%BC%D0%B5%D1%80%D1%8B%20%D1%81%D0%BE%D0%B5%D0%B4%D0%B9%D1%81%D1%82%D0%B2%D0%B8%D1%8F%20%D0%B7%D0%B0%D0%BD%D1%8F%D1%82%D0%BE%D1%81%D1%82%D0%B8.docx" TargetMode="External"/><Relationship Id="rId4" Type="http://schemas.openxmlformats.org/officeDocument/2006/relationships/hyperlink" Target="https://sovman.ru/articletop/upravleniye-protsessami/upravleniye-personalom/proizvoditelnost-truda/natsionalnyy-proyekt-proizvoditelnost-truda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78.rosstat.gov.ru/storage/mediabank/14001024_%D0%92%D0%BE%D0%B7%D1%80%D0%B0%D1%81%D1%82-%D0%BF%D0%BE%D0%BB%20%D0%BD%D0%B0%D1%81%20%D0%A1%D0%9F%D0%B1%202024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image" Target="../media/image7.emf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6.xml"/><Relationship Id="rId5" Type="http://schemas.openxmlformats.org/officeDocument/2006/relationships/image" Target="../media/image7.emf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8302" y="1521130"/>
            <a:ext cx="6297018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Рынок труда Санкт-Петербурга: Анализ и Перспективы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33723" y="3786676"/>
            <a:ext cx="629701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ru-RU" sz="1292" dirty="0"/>
              <a:t>Работу выполнили:</a:t>
            </a:r>
          </a:p>
          <a:p>
            <a:pPr>
              <a:lnSpc>
                <a:spcPts val="2083"/>
              </a:lnSpc>
            </a:pPr>
            <a:r>
              <a:rPr lang="ru-RU" sz="1292" dirty="0"/>
              <a:t>Угрюмова Полина</a:t>
            </a:r>
          </a:p>
          <a:p>
            <a:pPr>
              <a:lnSpc>
                <a:spcPts val="2083"/>
              </a:lnSpc>
            </a:pPr>
            <a:r>
              <a:rPr lang="ru-RU" sz="1292" dirty="0"/>
              <a:t>Капустина Алёна</a:t>
            </a:r>
          </a:p>
          <a:p>
            <a:pPr>
              <a:lnSpc>
                <a:spcPts val="2083"/>
              </a:lnSpc>
            </a:pPr>
            <a:r>
              <a:rPr lang="ru-RU" sz="1292" dirty="0" err="1"/>
              <a:t>Кикенова</a:t>
            </a:r>
            <a:r>
              <a:rPr lang="ru-RU" sz="1292" dirty="0"/>
              <a:t> Алина</a:t>
            </a:r>
          </a:p>
          <a:p>
            <a:pPr>
              <a:lnSpc>
                <a:spcPts val="2083"/>
              </a:lnSpc>
            </a:pPr>
            <a:r>
              <a:rPr lang="ru-RU" sz="1292" dirty="0" err="1"/>
              <a:t>Бекмурзаева</a:t>
            </a:r>
            <a:r>
              <a:rPr lang="ru-RU" sz="1292" dirty="0"/>
              <a:t> </a:t>
            </a:r>
            <a:r>
              <a:rPr lang="ru-RU" sz="1292" dirty="0" err="1"/>
              <a:t>Халима</a:t>
            </a:r>
            <a:endParaRPr lang="ru-RU" sz="1292" dirty="0"/>
          </a:p>
          <a:p>
            <a:pPr>
              <a:lnSpc>
                <a:spcPts val="2083"/>
              </a:lnSpc>
            </a:pPr>
            <a:r>
              <a:rPr lang="ru-RU" sz="1292" dirty="0"/>
              <a:t>Кузнецова Анастасия</a:t>
            </a:r>
          </a:p>
          <a:p>
            <a:pPr>
              <a:lnSpc>
                <a:spcPts val="2083"/>
              </a:lnSpc>
            </a:pPr>
            <a:endParaRPr lang="en-US" sz="1292" dirty="0"/>
          </a:p>
          <a:p>
            <a:pPr>
              <a:lnSpc>
                <a:spcPts val="2083"/>
              </a:lnSpc>
            </a:pPr>
            <a:endParaRPr lang="en-US" sz="1292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A6286-3970-54E0-E67F-878B5E53DE47}"/>
              </a:ext>
            </a:extLst>
          </p:cNvPr>
          <p:cNvSpPr txBox="1"/>
          <p:nvPr/>
        </p:nvSpPr>
        <p:spPr>
          <a:xfrm>
            <a:off x="359833" y="6371167"/>
            <a:ext cx="1333500" cy="451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167" i="1" dirty="0">
                <a:latin typeface="Times New Roman" panose="02020603050405020304" pitchFamily="18" charset="0"/>
                <a:ea typeface="Annai MN" pitchFamily="2" charset="0"/>
                <a:cs typeface="Times New Roman" panose="02020603050405020304" pitchFamily="18" charset="0"/>
              </a:rPr>
              <a:t>Санкт-Петербург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5FCEE-50D2-E1EF-6D0E-1BD8B0219BDE}"/>
              </a:ext>
            </a:extLst>
          </p:cNvPr>
          <p:cNvSpPr txBox="1"/>
          <p:nvPr/>
        </p:nvSpPr>
        <p:spPr>
          <a:xfrm>
            <a:off x="359833" y="192246"/>
            <a:ext cx="2952750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67" i="1" dirty="0"/>
              <a:t>МГУ имени М.В. Ломоносова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569" y="5266555"/>
            <a:ext cx="5021431" cy="155614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852" y="0"/>
            <a:ext cx="899020" cy="10224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A0A5B5-F67B-BECF-CB94-2CD54A03EDB5}"/>
              </a:ext>
            </a:extLst>
          </p:cNvPr>
          <p:cNvSpPr txBox="1"/>
          <p:nvPr/>
        </p:nvSpPr>
        <p:spPr>
          <a:xfrm>
            <a:off x="6625320" y="1215485"/>
            <a:ext cx="5108028" cy="4121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750"/>
              </a:spcAf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Цели: 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‒"/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основных тенденций и особенностей рынка труда Санкт-Петербурга в сравнении с другими субъектами Северо-Западного федерального округа.  </a:t>
            </a:r>
          </a:p>
          <a:p>
            <a:pPr algn="just">
              <a:lnSpc>
                <a:spcPct val="150000"/>
              </a:lnSpc>
              <a:spcAft>
                <a:spcPts val="750"/>
              </a:spcAf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Задачи:  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750"/>
              </a:spcAft>
              <a:buFont typeface="Times New Roman" panose="02020603050405020304" pitchFamily="18" charset="0"/>
              <a:buChar char="‒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Сбор и обработка демографической и трудовой статистики за 2015, 2018, 2021, 2024 годы;  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750"/>
              </a:spcAft>
              <a:buFont typeface="Times New Roman" panose="02020603050405020304" pitchFamily="18" charset="0"/>
              <a:buChar char="‒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ключевых государственных программ, влияющих на спрос и предложение труда;  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750"/>
              </a:spcAft>
              <a:buFont typeface="Times New Roman" panose="02020603050405020304" pitchFamily="18" charset="0"/>
              <a:buChar char="‒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Сравнение показателей с округом;  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750"/>
              </a:spcAft>
              <a:buFont typeface="Times New Roman" panose="02020603050405020304" pitchFamily="18" charset="0"/>
              <a:buChar char="‒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SWOT-анализ регионального рынка труда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03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598337"/>
              </p:ext>
            </p:extLst>
          </p:nvPr>
        </p:nvGraphicFramePr>
        <p:xfrm>
          <a:off x="2" y="0"/>
          <a:ext cx="11097489" cy="5222245"/>
        </p:xfrm>
        <a:graphic>
          <a:graphicData uri="http://schemas.openxmlformats.org/drawingml/2006/table">
            <a:tbl>
              <a:tblPr firstRow="1" firstCol="1" bandRow="1"/>
              <a:tblGrid>
                <a:gridCol w="3699163">
                  <a:extLst>
                    <a:ext uri="{9D8B030D-6E8A-4147-A177-3AD203B41FA5}">
                      <a16:colId xmlns:a16="http://schemas.microsoft.com/office/drawing/2014/main" val="412955030"/>
                    </a:ext>
                  </a:extLst>
                </a:gridCol>
                <a:gridCol w="3699163">
                  <a:extLst>
                    <a:ext uri="{9D8B030D-6E8A-4147-A177-3AD203B41FA5}">
                      <a16:colId xmlns:a16="http://schemas.microsoft.com/office/drawing/2014/main" val="171681670"/>
                    </a:ext>
                  </a:extLst>
                </a:gridCol>
                <a:gridCol w="3699163">
                  <a:extLst>
                    <a:ext uri="{9D8B030D-6E8A-4147-A177-3AD203B41FA5}">
                      <a16:colId xmlns:a16="http://schemas.microsoft.com/office/drawing/2014/main" val="2260037679"/>
                    </a:ext>
                  </a:extLst>
                </a:gridCol>
              </a:tblGrid>
              <a:tr h="5127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7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Госпрограмма</a:t>
                      </a:r>
                      <a:r>
                        <a:rPr lang="en-US" sz="17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7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Влияние на предложение рабочей силы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Влияние на спрос на труд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00183"/>
                  </a:ext>
                </a:extLst>
              </a:tr>
              <a:tr h="12818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Государственная программа «Содействие занятости населения в Санкт-Петербурге»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Повышает предложение труда за счет активной политики занятости: переподготовка безработных, создание временных рабочих мест, поддержка </a:t>
                      </a:r>
                      <a:r>
                        <a:rPr lang="ru-RU" sz="17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самозанятых</a:t>
                      </a: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Стимулирует спрос на труд через поддержку малого бизнеса и создание новых рабочих мест.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820653"/>
                  </a:ext>
                </a:extLst>
              </a:tr>
              <a:tr h="107696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Национальный проект «Кадры»</a:t>
                      </a:r>
                      <a:endParaRPr lang="ru-RU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Увеличивает квалифицированное предложение рабочей силы путем развития профессионального образования и стажировок.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Удовлетворяет потребности предприятий в квалифицированных кадрах, стимулирует создание новых позиций.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322365"/>
                  </a:ext>
                </a:extLst>
              </a:tr>
              <a:tr h="12818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Национальный проект «Производительность труда и поддержка занятости»</a:t>
                      </a:r>
                      <a:endParaRPr lang="ru-RU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Повышает квалификацию работников и эффективное использование кадров внутри предприятий.</a:t>
                      </a:r>
                      <a:endParaRPr lang="ru-RU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Формирует спрос на специалистов по </a:t>
                      </a:r>
                      <a:r>
                        <a:rPr lang="ru-RU" sz="17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цифровизации</a:t>
                      </a: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бережливому производству, создает высокопроизводительные рабочие места.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403875"/>
                  </a:ext>
                </a:extLst>
              </a:tr>
              <a:tr h="102546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Федеральный проект «Активные меры содействия занятости»</a:t>
                      </a:r>
                      <a:endParaRPr lang="ru-RU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Увеличивает предложение за счет обучения безработных, временных работ и программ адаптации.</a:t>
                      </a:r>
                      <a:endParaRPr lang="ru-RU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Снижает кадровый дефицит, улучшая соответствие между потребностями предприятий и наличием специалистов.</a:t>
                      </a:r>
                      <a:endParaRPr lang="ru-RU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760" marR="627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43278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71021" y="5096770"/>
            <a:ext cx="12091386" cy="214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ru-RU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Источники: </a:t>
            </a:r>
            <a:r>
              <a:rPr lang="ru-RU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КонсультантПлюс</a:t>
            </a:r>
            <a:r>
              <a:rPr lang="ru-RU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Федеральный закон от 18.07.2019 № 172-ФЗ «О стратегическом планировании в Российской Федерации» // </a:t>
            </a:r>
            <a:r>
              <a:rPr lang="ru-RU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КонсультантПлюс</a:t>
            </a:r>
            <a:r>
              <a:rPr lang="ru-RU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Электронный ресурс. – Режим доступа</a:t>
            </a: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050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https://docs.cntd.ru/document/822403597</a:t>
            </a: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Московский авиационный институт. О проекте «Кадры» // МАИ-ДПО: Электронный ресурс. – Режим доступа: </a:t>
            </a:r>
            <a:r>
              <a:rPr lang="ru-RU" sz="1050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https://mai-dpo.ru/about</a:t>
            </a: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ru-RU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Sovman.ru. Национальный проект «Производительность труда» // Sovman.ru: Электронный ресурс. – Режим доступа: </a:t>
            </a:r>
            <a:r>
              <a:rPr lang="ru-RU" sz="1050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https://sovman.ru/articletop/upravleniye-protsessami/upravleniye-personalom/proizvoditelnost-truda/natsionalnyy-proyekt-proizvoditelnost-truda/</a:t>
            </a: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1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Минтруд России. Федеральный проект «Активные меры содействия занятости» // Минтруд России: Электронный ресурс. </a:t>
            </a:r>
            <a:r>
              <a:rPr lang="ru-RU" sz="1000" u="sng" kern="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mintrud.gov.ru/uploads/editor/e1/2c/%D0%A4%D0%B5%D0%B4%D0%B5%D1%80%D0%B0%D0%BB%D1%8C%D0%BD%D1%8B%D0%B9%20%D0%BF%D1%80%D0%BE%D0%B5%D0%BA%D1%82%20%D0%90%D0%BA%D1%82%D0%B8%D0%B2%D0%BD%D1%8B%D0%B5%20%D0%BC%D0%B5%D1%80%D1%8B%20%D1%81%D0%BE%D0%B5%D0%B4%D0%B9%D1%81%D1%82%D0%B2%D0%B8%D1%8F%20%D0%B7%D0%B0%D0%BD%D1%8F%D1%82%D0%BE%D1%81%D1%82%D0%B8.docx</a:t>
            </a:r>
            <a:r>
              <a:rPr lang="ru-RU" sz="1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980" y="0"/>
            <a:ext cx="899020" cy="1022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37485" y="6488668"/>
            <a:ext cx="18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821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6676291"/>
              </p:ext>
            </p:extLst>
          </p:nvPr>
        </p:nvGraphicFramePr>
        <p:xfrm>
          <a:off x="6225540" y="3232389"/>
          <a:ext cx="5966460" cy="2903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/>
          <p:cNvGraphicFramePr/>
          <p:nvPr>
            <p:extLst>
              <p:ext uri="{D42A27DB-BD31-4B8C-83A1-F6EECF244321}">
                <p14:modId xmlns:p14="http://schemas.microsoft.com/office/powerpoint/2010/main" val="1086065490"/>
              </p:ext>
            </p:extLst>
          </p:nvPr>
        </p:nvGraphicFramePr>
        <p:xfrm>
          <a:off x="0" y="3232389"/>
          <a:ext cx="6063449" cy="2903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4408655"/>
              </p:ext>
            </p:extLst>
          </p:nvPr>
        </p:nvGraphicFramePr>
        <p:xfrm>
          <a:off x="2744680" y="0"/>
          <a:ext cx="6239522" cy="3065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75534" y="6151478"/>
            <a:ext cx="8451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Источники: графики составлены по данным ежегодника «</a:t>
            </a:r>
            <a:r>
              <a:rPr lang="ru-RU" dirty="0" err="1"/>
              <a:t>Возростно</a:t>
            </a:r>
            <a:r>
              <a:rPr lang="ru-RU" dirty="0"/>
              <a:t>-половой состав населения Санкт-Петербурга» за соответствующий год с сайта </a:t>
            </a:r>
            <a:r>
              <a:rPr lang="ru-RU" dirty="0" err="1"/>
              <a:t>Петростата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5810" y="0"/>
            <a:ext cx="896190" cy="10242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743905" y="6428477"/>
            <a:ext cx="13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1269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 другими субъектами СЗФО (за 2024 год)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285446"/>
              </p:ext>
            </p:extLst>
          </p:nvPr>
        </p:nvGraphicFramePr>
        <p:xfrm>
          <a:off x="354511" y="1787281"/>
          <a:ext cx="3467211" cy="3651983"/>
        </p:xfrm>
        <a:graphic>
          <a:graphicData uri="http://schemas.openxmlformats.org/drawingml/2006/table">
            <a:tbl>
              <a:tblPr firstRow="1" firstCol="1" bandRow="1"/>
              <a:tblGrid>
                <a:gridCol w="2599534">
                  <a:extLst>
                    <a:ext uri="{9D8B030D-6E8A-4147-A177-3AD203B41FA5}">
                      <a16:colId xmlns:a16="http://schemas.microsoft.com/office/drawing/2014/main" val="464189511"/>
                    </a:ext>
                  </a:extLst>
                </a:gridCol>
                <a:gridCol w="867677">
                  <a:extLst>
                    <a:ext uri="{9D8B030D-6E8A-4147-A177-3AD203B41FA5}">
                      <a16:colId xmlns:a16="http://schemas.microsoft.com/office/drawing/2014/main" val="2502275177"/>
                    </a:ext>
                  </a:extLst>
                </a:gridCol>
              </a:tblGrid>
              <a:tr h="539038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Моложе трудоспособного возраста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0148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Субъект СЗФО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58279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Вологодская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18,9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711150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Мурманская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18,8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385333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Коми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18,5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311654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Архангельская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17,8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50655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Калининградская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17,4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806589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Новгородская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17,4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95798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Карелия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939438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Псковская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16,2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936709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г. Санкт-Петербург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15,2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375181"/>
                  </a:ext>
                </a:extLst>
              </a:tr>
              <a:tr h="2829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Ленинградская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80548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50183"/>
              </p:ext>
            </p:extLst>
          </p:nvPr>
        </p:nvGraphicFramePr>
        <p:xfrm>
          <a:off x="4362338" y="1799248"/>
          <a:ext cx="3467211" cy="3651984"/>
        </p:xfrm>
        <a:graphic>
          <a:graphicData uri="http://schemas.openxmlformats.org/drawingml/2006/table">
            <a:tbl>
              <a:tblPr firstRow="1" firstCol="1" bandRow="1"/>
              <a:tblGrid>
                <a:gridCol w="2799389">
                  <a:extLst>
                    <a:ext uri="{9D8B030D-6E8A-4147-A177-3AD203B41FA5}">
                      <a16:colId xmlns:a16="http://schemas.microsoft.com/office/drawing/2014/main" val="2503835179"/>
                    </a:ext>
                  </a:extLst>
                </a:gridCol>
                <a:gridCol w="667822">
                  <a:extLst>
                    <a:ext uri="{9D8B030D-6E8A-4147-A177-3AD203B41FA5}">
                      <a16:colId xmlns:a16="http://schemas.microsoft.com/office/drawing/2014/main" val="2771946374"/>
                    </a:ext>
                  </a:extLst>
                </a:gridCol>
              </a:tblGrid>
              <a:tr h="304332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 трудоспособно</a:t>
                      </a:r>
                      <a:r>
                        <a:rPr lang="ru-RU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  <a:r>
                        <a:rPr lang="ru-RU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возрасте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324478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Субъект СЗФО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810024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Ленинградская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61,3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849760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Мурманская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60,6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67451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г. Санкт-Петербург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20954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Калининградская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59,2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275990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Коми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58,5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230305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Архангельская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56,4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87952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Псковская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960305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Вологодская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56,2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868386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Карелия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55,9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851570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Новгородская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55,8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08628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132565"/>
              </p:ext>
            </p:extLst>
          </p:nvPr>
        </p:nvGraphicFramePr>
        <p:xfrm>
          <a:off x="8370166" y="1799248"/>
          <a:ext cx="3467211" cy="3651984"/>
        </p:xfrm>
        <a:graphic>
          <a:graphicData uri="http://schemas.openxmlformats.org/drawingml/2006/table">
            <a:tbl>
              <a:tblPr firstRow="1" firstCol="1" bandRow="1"/>
              <a:tblGrid>
                <a:gridCol w="2600627">
                  <a:extLst>
                    <a:ext uri="{9D8B030D-6E8A-4147-A177-3AD203B41FA5}">
                      <a16:colId xmlns:a16="http://schemas.microsoft.com/office/drawing/2014/main" val="1810340104"/>
                    </a:ext>
                  </a:extLst>
                </a:gridCol>
                <a:gridCol w="866584">
                  <a:extLst>
                    <a:ext uri="{9D8B030D-6E8A-4147-A177-3AD203B41FA5}">
                      <a16:colId xmlns:a16="http://schemas.microsoft.com/office/drawing/2014/main" val="513262042"/>
                    </a:ext>
                  </a:extLst>
                </a:gridCol>
              </a:tblGrid>
              <a:tr h="304332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Старше трудоспособного возраста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2686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Субъект СЗФО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647009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Псковская область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27,8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543449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Карелия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945008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Новгородская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26,8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670573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Архангельская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25,8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2321448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Вологодская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24,9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02838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г. Санкт-Петербург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24,8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041180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Ленинградская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24,7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817412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Калининградская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23,4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609129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Коми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325310"/>
                  </a:ext>
                </a:extLst>
              </a:tr>
              <a:tr h="3043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Мурманская область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20,6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04582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5535857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Источнк</a:t>
            </a:r>
            <a:r>
              <a:rPr lang="ru-RU" dirty="0"/>
              <a:t>: Возрастно-половой состав населения Санкт-Петербурга на 1 января 2024 года // Статистический бюллетень. — СПб.: </a:t>
            </a:r>
            <a:r>
              <a:rPr lang="ru-RU" dirty="0" err="1"/>
              <a:t>Петростат</a:t>
            </a:r>
            <a:r>
              <a:rPr lang="ru-RU" dirty="0"/>
              <a:t>, 2024. — 57 с. — URL: </a:t>
            </a:r>
            <a:r>
              <a:rPr lang="ru-RU" u="sng" dirty="0">
                <a:hlinkClick r:id="rId2"/>
              </a:rPr>
              <a:t>https://78.rosstat.gov.ru/storage/mediabank/14001024_%D0%92%D0%BE%D0%B7%D1%80%D0%B0%D1%81%D1%82-%D0%BF%D0%BE%D0%BB%20%D0%BD%D0%B0%D1%81%20%D0%A1%D0%9F%D0%B1%202024.pdf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810" y="0"/>
            <a:ext cx="896190" cy="10242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79435" y="636685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4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83C2E71-FAE6-75D2-9502-7E5438F0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273" y="5813602"/>
            <a:ext cx="1971301" cy="1044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419" y="117417"/>
            <a:ext cx="11182503" cy="681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Часть 2: Рабочая сила и потенциальная рабочая сила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87418" y="5247345"/>
            <a:ext cx="4732532" cy="140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Устойчивый рост с 3061,1 тыс. (2018) до 3263,0 тыс. человек (2024)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Прирост: +201,9 тыс. человек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Темпы роста ускорились: +157 тыс. за последние 3 года против +44,9 тыс. ранее</a:t>
            </a:r>
          </a:p>
          <a:p>
            <a:pPr algn="ctr">
              <a:lnSpc>
                <a:spcPts val="2083"/>
              </a:lnSpc>
            </a:pP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271D1-0651-5974-525E-65F5A76C1160}"/>
              </a:ext>
            </a:extLst>
          </p:cNvPr>
          <p:cNvSpPr txBox="1"/>
          <p:nvPr/>
        </p:nvSpPr>
        <p:spPr>
          <a:xfrm>
            <a:off x="4430028" y="6366391"/>
            <a:ext cx="1333500" cy="451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167" i="1" dirty="0">
                <a:latin typeface="Times New Roman" panose="02020603050405020304" pitchFamily="18" charset="0"/>
                <a:ea typeface="Annai MN" pitchFamily="2" charset="0"/>
                <a:cs typeface="Times New Roman" panose="02020603050405020304" pitchFamily="18" charset="0"/>
              </a:rPr>
              <a:t>Санкт-Петербург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238677A9-5548-AF98-2B30-27231A2EFA49}"/>
                  </a:ext>
                </a:extLst>
              </p14:cNvPr>
              <p14:cNvContentPartPr/>
              <p14:nvPr/>
            </p14:nvContentPartPr>
            <p14:xfrm>
              <a:off x="6586642" y="3927473"/>
              <a:ext cx="107700" cy="9240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238677A9-5548-AF98-2B30-27231A2EFA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1874" y="3913092"/>
                <a:ext cx="136876" cy="121522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BB7614FD-2A97-B872-6A70-A813B9DB8DAF}"/>
              </a:ext>
            </a:extLst>
          </p:cNvPr>
          <p:cNvGraphicFramePr>
            <a:graphicFrameLocks/>
          </p:cNvGraphicFramePr>
          <p:nvPr/>
        </p:nvGraphicFramePr>
        <p:xfrm>
          <a:off x="6378671" y="837974"/>
          <a:ext cx="5265659" cy="2819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3" name="Диаграмма 22">
            <a:extLst>
              <a:ext uri="{FF2B5EF4-FFF2-40B4-BE49-F238E27FC236}">
                <a16:creationId xmlns:a16="http://schemas.microsoft.com/office/drawing/2014/main" id="{86691215-41EF-0DD5-7BAB-48702ACE8412}"/>
              </a:ext>
            </a:extLst>
          </p:cNvPr>
          <p:cNvGraphicFramePr>
            <a:graphicFrameLocks/>
          </p:cNvGraphicFramePr>
          <p:nvPr/>
        </p:nvGraphicFramePr>
        <p:xfrm>
          <a:off x="543572" y="740088"/>
          <a:ext cx="5318503" cy="2896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9" name="Text 6">
            <a:extLst>
              <a:ext uri="{FF2B5EF4-FFF2-40B4-BE49-F238E27FC236}">
                <a16:creationId xmlns:a16="http://schemas.microsoft.com/office/drawing/2014/main" id="{D0AB1EA5-7BF4-38DB-6981-7DF05715068B}"/>
              </a:ext>
            </a:extLst>
          </p:cNvPr>
          <p:cNvSpPr/>
          <p:nvPr/>
        </p:nvSpPr>
        <p:spPr>
          <a:xfrm>
            <a:off x="6740181" y="5247144"/>
            <a:ext cx="4542637" cy="1380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buFont typeface="Courier New" panose="02070309020205020404" pitchFamily="49" charset="0"/>
              <a:buChar char="o"/>
            </a:pPr>
            <a:r>
              <a:rPr lang="ru-RU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Синхронный рост с рабочей силой: +198,3 тыс. человек</a:t>
            </a:r>
          </a:p>
          <a:p>
            <a:pPr marL="285739" indent="-285739">
              <a:buFont typeface="Courier New" panose="02070309020205020404" pitchFamily="49" charset="0"/>
              <a:buChar char="o"/>
            </a:pPr>
            <a:r>
              <a:rPr lang="ru-RU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половины прироста обеспечено женской занятостью (+109,7 тыс.)</a:t>
            </a:r>
          </a:p>
          <a:p>
            <a:pPr marL="285739" indent="-285739">
              <a:buFont typeface="Courier New" panose="02070309020205020404" pitchFamily="49" charset="0"/>
              <a:buChar char="o"/>
            </a:pPr>
            <a:r>
              <a:rPr lang="ru-RU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создавать новые рабочие места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endParaRPr lang="ru-RU" sz="1667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083"/>
              </a:lnSpc>
            </a:pP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48A5C-5FFD-B332-7D18-363453FE727D}"/>
              </a:ext>
            </a:extLst>
          </p:cNvPr>
          <p:cNvSpPr txBox="1"/>
          <p:nvPr/>
        </p:nvSpPr>
        <p:spPr>
          <a:xfrm>
            <a:off x="543572" y="3565169"/>
            <a:ext cx="5318503" cy="164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1: Динамика численности рабочей силы в Санкт-Петербурге за 2018, 2021, 2024 гг.</a:t>
            </a:r>
            <a:endParaRPr lang="ru-KZ" sz="1417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417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Источники: Построено авторами на основе Таблица 1 </a:t>
            </a:r>
            <a:r>
              <a:rPr lang="ru-RU" sz="1417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(Динамика численности рабочей силы, в том числе безработных, и численности потенциальной рабочей силы за 2018, 2021, 2024 гг., Росстат для Санкт-Петербурга за 2024г., 25 стр., раздел 4.1; 2022г., 47 стр., раздел 4.1.1 и 4.1.2.)</a:t>
            </a:r>
            <a:endParaRPr lang="ru-KZ" sz="1417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8093A-B0A6-96FA-E4BF-89A0F3E3F8B8}"/>
              </a:ext>
            </a:extLst>
          </p:cNvPr>
          <p:cNvSpPr txBox="1"/>
          <p:nvPr/>
        </p:nvSpPr>
        <p:spPr>
          <a:xfrm>
            <a:off x="6378670" y="3565169"/>
            <a:ext cx="5591252" cy="1644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2: Динамика занятых в Санкт-Петербурге за 2018, 2021, 2024 гг.</a:t>
            </a:r>
            <a:endParaRPr lang="ru-KZ" sz="1417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417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Источники: Построено авторами на основе Таблица 1 </a:t>
            </a:r>
            <a:r>
              <a:rPr lang="ru-RU" sz="1417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(Динамика численности рабочей силы, в том числе безработных, и численности потенциальной рабочей силы за 2018, 2021, 2024 гг., Росстат для Санкт-Петербурга за 2024г., 25 стр., раздел 4.1; 2022г., 47 стр., раздел 4.1.1 и 4.1.2.)</a:t>
            </a:r>
            <a:endParaRPr lang="ru-KZ" sz="1417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7579" y="-54169"/>
            <a:ext cx="896190" cy="10242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79435" y="636685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009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83C2E71-FAE6-75D2-9502-7E5438F0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00" y="5811440"/>
            <a:ext cx="1971301" cy="1044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B271D1-0651-5974-525E-65F5A76C1160}"/>
              </a:ext>
            </a:extLst>
          </p:cNvPr>
          <p:cNvSpPr txBox="1"/>
          <p:nvPr/>
        </p:nvSpPr>
        <p:spPr>
          <a:xfrm>
            <a:off x="10663019" y="6333638"/>
            <a:ext cx="1333500" cy="451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167" i="1" dirty="0">
                <a:latin typeface="Times New Roman" panose="02020603050405020304" pitchFamily="18" charset="0"/>
                <a:ea typeface="Annai MN" pitchFamily="2" charset="0"/>
                <a:cs typeface="Times New Roman" panose="02020603050405020304" pitchFamily="18" charset="0"/>
              </a:rPr>
              <a:t>Санкт-Петербург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238677A9-5548-AF98-2B30-27231A2EFA49}"/>
                  </a:ext>
                </a:extLst>
              </p14:cNvPr>
              <p14:cNvContentPartPr/>
              <p14:nvPr/>
            </p14:nvContentPartPr>
            <p14:xfrm>
              <a:off x="6586642" y="3927473"/>
              <a:ext cx="107700" cy="9240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238677A9-5548-AF98-2B30-27231A2EFA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1874" y="3913092"/>
                <a:ext cx="136876" cy="121522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 6">
            <a:extLst>
              <a:ext uri="{FF2B5EF4-FFF2-40B4-BE49-F238E27FC236}">
                <a16:creationId xmlns:a16="http://schemas.microsoft.com/office/drawing/2014/main" id="{D0AB1EA5-7BF4-38DB-6981-7DF05715068B}"/>
              </a:ext>
            </a:extLst>
          </p:cNvPr>
          <p:cNvSpPr/>
          <p:nvPr/>
        </p:nvSpPr>
        <p:spPr>
          <a:xfrm>
            <a:off x="8203072" y="1048523"/>
            <a:ext cx="3629095" cy="353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750" dirty="0">
                <a:latin typeface=".SFUI-Regular"/>
              </a:rPr>
              <a:t>Уровень участия — стабильно высокий, около </a:t>
            </a:r>
            <a:r>
              <a:rPr lang="ru-RU" sz="1750" b="1" dirty="0">
                <a:latin typeface=".SFUI-Semibold"/>
              </a:rPr>
              <a:t>68%</a:t>
            </a:r>
            <a:r>
              <a:rPr lang="ru-RU" sz="1750" dirty="0">
                <a:latin typeface=".SFUI-Regular"/>
              </a:rPr>
              <a:t>, что выше </a:t>
            </a:r>
            <a:r>
              <a:rPr lang="ru-RU" sz="1750" dirty="0" err="1">
                <a:latin typeface=".SFUI-Regular"/>
              </a:rPr>
              <a:t>среднероссийского</a:t>
            </a:r>
            <a:r>
              <a:rPr lang="ru-RU" sz="1750" dirty="0">
                <a:latin typeface=".SFUI-Regular"/>
              </a:rPr>
              <a:t>. 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750" dirty="0">
                <a:latin typeface=".SFUI-Regular"/>
              </a:rPr>
              <a:t>В 2024 году — </a:t>
            </a:r>
            <a:r>
              <a:rPr lang="ru-RU" sz="1750" b="1" dirty="0">
                <a:latin typeface=".SFUI-Semibold"/>
              </a:rPr>
              <a:t>68,1%</a:t>
            </a:r>
            <a:r>
              <a:rPr lang="ru-RU" sz="1750" dirty="0">
                <a:latin typeface=".SFUI-Regular"/>
              </a:rPr>
              <a:t>. 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750" dirty="0">
                <a:latin typeface=".SFUI-Regular"/>
              </a:rPr>
              <a:t>Небольшое снижение объясняется быстрым ростом населения 15+ лет, а не снижением трудовой активности. 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750" dirty="0">
                <a:latin typeface=".SFUI-Regular"/>
              </a:rPr>
              <a:t>Высокий уровень участия подтверждает устойчивое предложение труда и стабильную социально-экономическую динамику.</a:t>
            </a:r>
            <a:endParaRPr lang="ru-RU" sz="1750" dirty="0">
              <a:latin typeface=".SF UI"/>
            </a:endParaRPr>
          </a:p>
          <a:p>
            <a:pPr algn="ctr">
              <a:lnSpc>
                <a:spcPts val="2083"/>
              </a:lnSpc>
            </a:pPr>
            <a:endParaRPr lang="en-US" sz="1750" dirty="0"/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68FB2B2C-5FBD-773F-F7B5-5849E1C69B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2810454"/>
              </p:ext>
            </p:extLst>
          </p:nvPr>
        </p:nvGraphicFramePr>
        <p:xfrm>
          <a:off x="359834" y="575775"/>
          <a:ext cx="7748979" cy="4010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B114C9-4D86-400D-B369-366385AB36DC}"/>
              </a:ext>
            </a:extLst>
          </p:cNvPr>
          <p:cNvSpPr txBox="1"/>
          <p:nvPr/>
        </p:nvSpPr>
        <p:spPr>
          <a:xfrm>
            <a:off x="359834" y="4890195"/>
            <a:ext cx="7619091" cy="122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3"/>
              </a:spcAft>
            </a:pPr>
            <a:r>
              <a:rPr lang="ru-RU" sz="1667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3: Структура безработных по уровню образования за 2018, 2021, 2024 гг.</a:t>
            </a:r>
            <a:endParaRPr lang="ru-KZ" sz="1667" i="1" dirty="0">
              <a:solidFill>
                <a:srgbClr val="44546A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667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Источники: Построено авторами на основе Таблица 4 </a:t>
            </a:r>
            <a:r>
              <a:rPr lang="ru-RU" sz="1667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(Структура безработных по уровню образования за 2018, 2021, 2024 гг., Росстат для Санкт-Петербурга за 2024г., раздел 3.6; за 2022г., за 2021г.)</a:t>
            </a:r>
            <a:endParaRPr lang="ru-KZ" sz="1667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5811" y="-2600"/>
            <a:ext cx="896190" cy="10242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79435" y="636685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042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6D0795-56B7-D222-9527-5ACE6DAB2A33}"/>
              </a:ext>
            </a:extLst>
          </p:cNvPr>
          <p:cNvSpPr txBox="1"/>
          <p:nvPr/>
        </p:nvSpPr>
        <p:spPr>
          <a:xfrm>
            <a:off x="3708327" y="176082"/>
            <a:ext cx="4775345" cy="54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42"/>
              </a:lnSpc>
            </a:pPr>
            <a:r>
              <a:rPr lang="ru-RU" sz="2000" b="1" dirty="0">
                <a:solidFill>
                  <a:srgbClr val="3B4540"/>
                </a:solidFill>
              </a:rPr>
              <a:t>Длительная и скрытая безработица</a:t>
            </a:r>
            <a:endParaRPr lang="en-US" sz="20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8C8641E-CCB9-A4CA-7FD5-341055670C4C}"/>
              </a:ext>
            </a:extLst>
          </p:cNvPr>
          <p:cNvGraphicFramePr>
            <a:graphicFrameLocks noGrp="1"/>
          </p:cNvGraphicFramePr>
          <p:nvPr/>
        </p:nvGraphicFramePr>
        <p:xfrm>
          <a:off x="176767" y="930894"/>
          <a:ext cx="6196327" cy="3464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0048">
                  <a:extLst>
                    <a:ext uri="{9D8B030D-6E8A-4147-A177-3AD203B41FA5}">
                      <a16:colId xmlns:a16="http://schemas.microsoft.com/office/drawing/2014/main" val="2184048071"/>
                    </a:ext>
                  </a:extLst>
                </a:gridCol>
                <a:gridCol w="1442093">
                  <a:extLst>
                    <a:ext uri="{9D8B030D-6E8A-4147-A177-3AD203B41FA5}">
                      <a16:colId xmlns:a16="http://schemas.microsoft.com/office/drawing/2014/main" val="3370458491"/>
                    </a:ext>
                  </a:extLst>
                </a:gridCol>
                <a:gridCol w="1442093">
                  <a:extLst>
                    <a:ext uri="{9D8B030D-6E8A-4147-A177-3AD203B41FA5}">
                      <a16:colId xmlns:a16="http://schemas.microsoft.com/office/drawing/2014/main" val="3386296002"/>
                    </a:ext>
                  </a:extLst>
                </a:gridCol>
                <a:gridCol w="1442093">
                  <a:extLst>
                    <a:ext uri="{9D8B030D-6E8A-4147-A177-3AD203B41FA5}">
                      <a16:colId xmlns:a16="http://schemas.microsoft.com/office/drawing/2014/main" val="1395539013"/>
                    </a:ext>
                  </a:extLst>
                </a:gridCol>
              </a:tblGrid>
              <a:tr h="346430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Показатель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2018 год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2021 год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2024 год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3392767845"/>
                  </a:ext>
                </a:extLst>
              </a:tr>
              <a:tr h="1039290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Доля длительно безработных (12+ месяцев), %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-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5,1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2,2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376581941"/>
                  </a:ext>
                </a:extLst>
              </a:tr>
              <a:tr h="692860"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Среднее время поиска работы, месяцев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-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3,8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3,4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47781206"/>
                  </a:ext>
                </a:extLst>
              </a:tr>
              <a:tr h="692860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Доля безработных 6+ месяцев, %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-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18,3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14,6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2863190680"/>
                  </a:ext>
                </a:extLst>
              </a:tr>
              <a:tr h="692860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Доля безработных менее 3 месяцев, %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-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55,2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62,8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3752212349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5F3A04-2AC0-1E1C-3FF6-3B9AFDE19108}"/>
              </a:ext>
            </a:extLst>
          </p:cNvPr>
          <p:cNvSpPr/>
          <p:nvPr/>
        </p:nvSpPr>
        <p:spPr>
          <a:xfrm>
            <a:off x="6563588" y="930895"/>
            <a:ext cx="5451643" cy="3464299"/>
          </a:xfrm>
          <a:prstGeom prst="rect">
            <a:avLst/>
          </a:prstGeom>
          <a:solidFill>
            <a:srgbClr val="FBFF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E5FE35CD-0CD1-7963-0640-6783C2D8975D}"/>
              </a:ext>
            </a:extLst>
          </p:cNvPr>
          <p:cNvGraphicFramePr/>
          <p:nvPr/>
        </p:nvGraphicFramePr>
        <p:xfrm>
          <a:off x="6563588" y="889013"/>
          <a:ext cx="5451643" cy="3464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7F5D2E-EE4C-6171-7FA3-ECAA9D13C9AF}"/>
              </a:ext>
            </a:extLst>
          </p:cNvPr>
          <p:cNvSpPr txBox="1"/>
          <p:nvPr/>
        </p:nvSpPr>
        <p:spPr>
          <a:xfrm>
            <a:off x="6563587" y="4472481"/>
            <a:ext cx="5451643" cy="2476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33"/>
              </a:spcAft>
            </a:pPr>
            <a:r>
              <a:rPr lang="ru-RU" sz="1333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1: Динамика скрытой безработицы в Санкт-Петербурге, 2021-2024 </a:t>
            </a:r>
            <a:r>
              <a:rPr lang="ru-RU" sz="1333" i="1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гг</a:t>
            </a:r>
            <a:endParaRPr lang="ru-RU" sz="1333" i="1" dirty="0">
              <a:solidFill>
                <a:srgbClr val="44546A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333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Источники: Построено авторами на основе Таблицы 8 (</a:t>
            </a:r>
            <a:r>
              <a:rPr lang="ru-RU" sz="1333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Неполная занятость и движение работников организаций Санкт-Петербурга в 2021 году, </a:t>
            </a:r>
            <a:r>
              <a:rPr lang="ru-RU" sz="1333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Петростат</a:t>
            </a:r>
            <a:r>
              <a:rPr lang="ru-RU" sz="1333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стр. 1</a:t>
            </a:r>
            <a:endParaRPr lang="ru-RU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333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Неполная занятость и движение работников организаций Санкт-Петербурга в 2024 году, </a:t>
            </a:r>
            <a:r>
              <a:rPr lang="ru-RU" sz="1333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Петростат</a:t>
            </a:r>
            <a:r>
              <a:rPr lang="ru-RU" sz="1333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стр. 1)</a:t>
            </a:r>
            <a:endParaRPr lang="ru-RU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333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Ограничения анализа: в региональных публикациях Росстата отсутствуют детализированные данные по компонентам скрытой безработицы</a:t>
            </a:r>
            <a:endParaRPr lang="ru-RU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33"/>
              </a:spcAft>
            </a:pPr>
            <a:endParaRPr lang="ru-RU" sz="1500" i="1" dirty="0">
              <a:solidFill>
                <a:srgbClr val="44546A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F13B9-3446-BBB2-C3CB-3D30C98CE351}"/>
              </a:ext>
            </a:extLst>
          </p:cNvPr>
          <p:cNvSpPr txBox="1"/>
          <p:nvPr/>
        </p:nvSpPr>
        <p:spPr>
          <a:xfrm>
            <a:off x="152603" y="4704945"/>
            <a:ext cx="6220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Таблица 7 Длительная безработица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500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Источники: Итоги выборочных обследований рабочей силы в Санкт-Петербурге в 2024 году, </a:t>
            </a:r>
            <a:r>
              <a:rPr lang="ru-RU" sz="1500" i="1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Петростат</a:t>
            </a:r>
            <a:r>
              <a:rPr lang="ru-RU" sz="1500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стр. 8-16.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  <a:r>
              <a:rPr lang="ru-RU" sz="1500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Примечание: в связи с отсутствием официальных данных по</a:t>
            </a:r>
            <a:r>
              <a:rPr lang="ru-RU" sz="15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500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длительной безработице за 2018 год на сайте </a:t>
            </a:r>
            <a:r>
              <a:rPr lang="ru-RU" sz="1500" i="1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Петростата</a:t>
            </a:r>
            <a:r>
              <a:rPr lang="ru-RU" sz="1500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в ячейках таблицы стоит прочерк.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380DF95-5F48-2B0B-375C-E74235596286}"/>
              </a:ext>
            </a:extLst>
          </p:cNvPr>
          <p:cNvSpPr/>
          <p:nvPr/>
        </p:nvSpPr>
        <p:spPr>
          <a:xfrm>
            <a:off x="10681855" y="6434050"/>
            <a:ext cx="1510145" cy="365761"/>
          </a:xfrm>
          <a:prstGeom prst="rect">
            <a:avLst/>
          </a:prstGeom>
          <a:solidFill>
            <a:srgbClr val="FBFFFA"/>
          </a:solidFill>
          <a:ln>
            <a:solidFill>
              <a:srgbClr val="FB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810" y="0"/>
            <a:ext cx="896190" cy="10242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79435" y="636685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5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67BB13-1C2D-BF2D-9707-89F9B30792D1}"/>
              </a:ext>
            </a:extLst>
          </p:cNvPr>
          <p:cNvSpPr/>
          <p:nvPr/>
        </p:nvSpPr>
        <p:spPr>
          <a:xfrm>
            <a:off x="10685721" y="6468140"/>
            <a:ext cx="1506279" cy="389861"/>
          </a:xfrm>
          <a:prstGeom prst="rect">
            <a:avLst/>
          </a:prstGeom>
          <a:solidFill>
            <a:srgbClr val="FBFFFA"/>
          </a:solidFill>
          <a:ln>
            <a:solidFill>
              <a:srgbClr val="FB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2E3FB-0964-0265-1A44-0B87A3290495}"/>
              </a:ext>
            </a:extLst>
          </p:cNvPr>
          <p:cNvSpPr txBox="1"/>
          <p:nvPr/>
        </p:nvSpPr>
        <p:spPr>
          <a:xfrm>
            <a:off x="251165" y="230372"/>
            <a:ext cx="3044928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42"/>
              </a:lnSpc>
            </a:pPr>
            <a:r>
              <a:rPr lang="ru-RU" sz="2000" b="1" dirty="0">
                <a:solidFill>
                  <a:srgbClr val="3B4540"/>
                </a:solidFill>
              </a:rPr>
              <a:t>Портрет безработного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A6986-5884-B412-7995-518AD9DE1C57}"/>
              </a:ext>
            </a:extLst>
          </p:cNvPr>
          <p:cNvSpPr txBox="1"/>
          <p:nvPr/>
        </p:nvSpPr>
        <p:spPr>
          <a:xfrm>
            <a:off x="320512" y="1448487"/>
            <a:ext cx="2906232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67" dirty="0"/>
              <a:t>1. Женщина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93DE1-CEC7-07EF-328B-759EE62E0AB4}"/>
              </a:ext>
            </a:extLst>
          </p:cNvPr>
          <p:cNvSpPr txBox="1"/>
          <p:nvPr/>
        </p:nvSpPr>
        <p:spPr>
          <a:xfrm>
            <a:off x="372436" y="2384423"/>
            <a:ext cx="1662696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67" dirty="0"/>
              <a:t>2. 30-39 лет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E12D9-AAAF-BB4F-A063-9F3D26040A03}"/>
              </a:ext>
            </a:extLst>
          </p:cNvPr>
          <p:cNvSpPr txBox="1"/>
          <p:nvPr/>
        </p:nvSpPr>
        <p:spPr>
          <a:xfrm>
            <a:off x="362041" y="3320360"/>
            <a:ext cx="3346184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67" dirty="0"/>
              <a:t>3. Среднее общее образование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C352B-A804-FF57-B96C-82422D157339}"/>
              </a:ext>
            </a:extLst>
          </p:cNvPr>
          <p:cNvSpPr txBox="1"/>
          <p:nvPr/>
        </p:nvSpPr>
        <p:spPr>
          <a:xfrm>
            <a:off x="341249" y="4256297"/>
            <a:ext cx="4303114" cy="86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67" dirty="0"/>
              <a:t>4. Поиск работы через СМИ/интернет, обращение к друзьям, родственникам и знакомым</a:t>
            </a:r>
          </a:p>
        </p:txBody>
      </p:sp>
      <p:pic>
        <p:nvPicPr>
          <p:cNvPr id="11" name="Рисунок 10" descr="Изображение выглядит как голова&#10;&#10;Автоматически созданное описание со средним доверительным уровнем">
            <a:extLst>
              <a:ext uri="{FF2B5EF4-FFF2-40B4-BE49-F238E27FC236}">
                <a16:creationId xmlns:a16="http://schemas.microsoft.com/office/drawing/2014/main" id="{3BF0A7C6-4E50-7A82-D15A-248CAC16E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55220" y="592672"/>
            <a:ext cx="3895532" cy="519404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A32587F-3994-F3B2-02FB-32575D6A0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16" b="97604" l="6383" r="90426">
                        <a14:foregroundMark x1="29362" y1="42013" x2="42766" y2="46006"/>
                        <a14:foregroundMark x1="42766" y1="46006" x2="40426" y2="35942"/>
                        <a14:foregroundMark x1="40426" y1="35942" x2="26596" y2="34026"/>
                        <a14:foregroundMark x1="26596" y1="34026" x2="25957" y2="42492"/>
                        <a14:foregroundMark x1="25957" y1="42492" x2="28936" y2="43131"/>
                        <a14:foregroundMark x1="36383" y1="39776" x2="40638" y2="45048"/>
                        <a14:foregroundMark x1="58298" y1="43930" x2="68936" y2="41214"/>
                        <a14:foregroundMark x1="68936" y1="41214" x2="67234" y2="39137"/>
                        <a14:foregroundMark x1="67660" y1="38019" x2="74043" y2="40575"/>
                        <a14:foregroundMark x1="70638" y1="41374" x2="66596" y2="44249"/>
                        <a14:foregroundMark x1="28511" y1="11182" x2="54468" y2="9744"/>
                        <a14:foregroundMark x1="54468" y1="9744" x2="42766" y2="6390"/>
                        <a14:foregroundMark x1="42766" y1="6390" x2="36383" y2="7508"/>
                        <a14:foregroundMark x1="51064" y1="4153" x2="50000" y2="2716"/>
                        <a14:foregroundMark x1="75532" y1="91374" x2="83404" y2="93610"/>
                        <a14:foregroundMark x1="22553" y1="93610" x2="19574" y2="95687"/>
                        <a14:foregroundMark x1="11277" y1="96166" x2="6383" y2="95048"/>
                        <a14:foregroundMark x1="87234" y1="95687" x2="90638" y2="95687"/>
                        <a14:foregroundMark x1="72553" y1="96166" x2="77021" y2="976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493" y="961527"/>
            <a:ext cx="3705152" cy="493494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A0D3384-12D2-1AC4-8821-14A9783D7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7918" y="693073"/>
            <a:ext cx="3915833" cy="5588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F1644B5-307C-494F-F676-9F5B1CA932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92965" y="2703401"/>
            <a:ext cx="2778188" cy="2778188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электроника, телефон, Проводной телефон&#10;&#10;Автоматически созданное описание">
            <a:extLst>
              <a:ext uri="{FF2B5EF4-FFF2-40B4-BE49-F238E27FC236}">
                <a16:creationId xmlns:a16="http://schemas.microsoft.com/office/drawing/2014/main" id="{2B090B20-62BB-356B-D17D-66AE44359B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3177" y="908774"/>
            <a:ext cx="2543013" cy="164236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5656" y="0"/>
            <a:ext cx="896190" cy="10242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79435" y="636685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653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4DA2BFD-6800-F63D-6F96-1A6C48EC6793}"/>
              </a:ext>
            </a:extLst>
          </p:cNvPr>
          <p:cNvSpPr/>
          <p:nvPr/>
        </p:nvSpPr>
        <p:spPr>
          <a:xfrm>
            <a:off x="10685721" y="6468140"/>
            <a:ext cx="1506279" cy="389861"/>
          </a:xfrm>
          <a:prstGeom prst="rect">
            <a:avLst/>
          </a:prstGeom>
          <a:solidFill>
            <a:srgbClr val="FBFFFA"/>
          </a:solidFill>
          <a:ln>
            <a:solidFill>
              <a:srgbClr val="FBFF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4F16E1E-2FC5-A6D2-5C87-FC6B838BE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891202"/>
              </p:ext>
            </p:extLst>
          </p:nvPr>
        </p:nvGraphicFramePr>
        <p:xfrm>
          <a:off x="1620510" y="1122845"/>
          <a:ext cx="8915540" cy="3233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3108">
                  <a:extLst>
                    <a:ext uri="{9D8B030D-6E8A-4147-A177-3AD203B41FA5}">
                      <a16:colId xmlns:a16="http://schemas.microsoft.com/office/drawing/2014/main" val="1755236501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1440311540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2459492992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1788080726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2444105460"/>
                    </a:ext>
                  </a:extLst>
                </a:gridCol>
              </a:tblGrid>
              <a:tr h="80832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Субъект СЗФО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2018 год, %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2021 год, %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2024 год, %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Динамика 2018-2024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3653615148"/>
                  </a:ext>
                </a:extLst>
              </a:tr>
              <a:tr h="80832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Новгородская область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4,2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4,1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1,4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-2,8 п.п.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3066859608"/>
                  </a:ext>
                </a:extLst>
              </a:tr>
              <a:tr h="80832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Санкт-Петербург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1,5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2,0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1,5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0,0 п.п.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2511175505"/>
                  </a:ext>
                </a:extLst>
              </a:tr>
              <a:tr h="80832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Псковская область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5,6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4,7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2,3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-3,3 </a:t>
                      </a:r>
                      <a:r>
                        <a:rPr lang="en-US" sz="1500" dirty="0" err="1">
                          <a:effectLst/>
                        </a:rPr>
                        <a:t>п.п</a:t>
                      </a:r>
                      <a:r>
                        <a:rPr lang="en-US" sz="1500" dirty="0">
                          <a:effectLst/>
                        </a:rPr>
                        <a:t>.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213355831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ECF1AC9-1A92-BEFA-7781-63CA7BDF3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35239"/>
              </p:ext>
            </p:extLst>
          </p:nvPr>
        </p:nvGraphicFramePr>
        <p:xfrm>
          <a:off x="1620510" y="5170969"/>
          <a:ext cx="8915540" cy="8910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3108">
                  <a:extLst>
                    <a:ext uri="{9D8B030D-6E8A-4147-A177-3AD203B41FA5}">
                      <a16:colId xmlns:a16="http://schemas.microsoft.com/office/drawing/2014/main" val="4150844775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991487505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755213746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1968661927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116421384"/>
                    </a:ext>
                  </a:extLst>
                </a:gridCol>
              </a:tblGrid>
              <a:tr h="594057"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Республика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Карелия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8,7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6,7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4,1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-4,6 п.п.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3460825712"/>
                  </a:ext>
                </a:extLst>
              </a:tr>
              <a:tr h="297028"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Ненецкий</a:t>
                      </a:r>
                      <a:r>
                        <a:rPr lang="en-US" sz="1500" dirty="0">
                          <a:effectLst/>
                        </a:rPr>
                        <a:t> АО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8,2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6,8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5,0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-3,2 </a:t>
                      </a:r>
                      <a:r>
                        <a:rPr lang="en-US" sz="1500" dirty="0" err="1">
                          <a:effectLst/>
                        </a:rPr>
                        <a:t>п.п</a:t>
                      </a:r>
                      <a:r>
                        <a:rPr lang="en-US" sz="1500" dirty="0">
                          <a:effectLst/>
                        </a:rPr>
                        <a:t>.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37586668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2113683-AC8D-7435-7E8B-23E7586E89D4}"/>
              </a:ext>
            </a:extLst>
          </p:cNvPr>
          <p:cNvSpPr txBox="1"/>
          <p:nvPr/>
        </p:nvSpPr>
        <p:spPr>
          <a:xfrm>
            <a:off x="3672663" y="386984"/>
            <a:ext cx="5116918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42"/>
              </a:lnSpc>
            </a:pPr>
            <a:r>
              <a:rPr lang="ru-RU" sz="2000" b="1" dirty="0">
                <a:solidFill>
                  <a:srgbClr val="3B4540"/>
                </a:solidFill>
              </a:rPr>
              <a:t>Сравнение показателей с субъектами СЗФО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32970-67FA-318B-F1F9-1FBE8C346358}"/>
              </a:ext>
            </a:extLst>
          </p:cNvPr>
          <p:cNvSpPr txBox="1"/>
          <p:nvPr/>
        </p:nvSpPr>
        <p:spPr>
          <a:xfrm>
            <a:off x="1529453" y="4118378"/>
            <a:ext cx="600239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33" b="1" dirty="0"/>
              <a:t>.</a:t>
            </a:r>
          </a:p>
          <a:p>
            <a:r>
              <a:rPr lang="ru-RU" sz="2333" b="1" dirty="0"/>
              <a:t>.</a:t>
            </a:r>
          </a:p>
          <a:p>
            <a:r>
              <a:rPr lang="ru-RU" sz="2333" b="1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810" y="0"/>
            <a:ext cx="896190" cy="10242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79435" y="636685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06AAC-0EE1-75DC-2259-B12A818167DF}"/>
              </a:ext>
            </a:extLst>
          </p:cNvPr>
          <p:cNvSpPr txBox="1"/>
          <p:nvPr/>
        </p:nvSpPr>
        <p:spPr>
          <a:xfrm>
            <a:off x="1620510" y="6236677"/>
            <a:ext cx="8868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Источники: ЕМИСС, Регионы России. Социально-экономические показатели, Росстат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53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01614" y="41439"/>
            <a:ext cx="5742794" cy="109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667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Часть 3: Профессионально-отраслевая структура занятости и заработная плата</a:t>
            </a:r>
            <a:endParaRPr lang="en-US" sz="2667" dirty="0"/>
          </a:p>
        </p:txBody>
      </p:sp>
      <p:sp>
        <p:nvSpPr>
          <p:cNvPr id="4" name="Shape 1"/>
          <p:cNvSpPr/>
          <p:nvPr/>
        </p:nvSpPr>
        <p:spPr>
          <a:xfrm>
            <a:off x="6551953" y="1013171"/>
            <a:ext cx="4618836" cy="1093391"/>
          </a:xfrm>
          <a:prstGeom prst="roundRect">
            <a:avLst>
              <a:gd name="adj" fmla="val 92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 sz="1500" dirty="0"/>
          </a:p>
        </p:txBody>
      </p:sp>
      <p:sp>
        <p:nvSpPr>
          <p:cNvPr id="5" name="Shape 2"/>
          <p:cNvSpPr/>
          <p:nvPr/>
        </p:nvSpPr>
        <p:spPr>
          <a:xfrm>
            <a:off x="6729002" y="1223762"/>
            <a:ext cx="230847" cy="336054"/>
          </a:xfrm>
          <a:prstGeom prst="roundRect">
            <a:avLst>
              <a:gd name="adj" fmla="val 22672649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ru-RU" sz="15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4463" y="1470422"/>
            <a:ext cx="151209" cy="151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54952" y="1320589"/>
            <a:ext cx="3931249" cy="239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ru-RU" sz="1500" dirty="0"/>
              <a:t>Деятельность в область информации и связи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628904" y="1826122"/>
            <a:ext cx="446493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Рост занятости на +54%.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51952" y="2173287"/>
            <a:ext cx="4618836" cy="1093391"/>
          </a:xfrm>
          <a:prstGeom prst="roundRect">
            <a:avLst>
              <a:gd name="adj" fmla="val 92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 sz="1500" dirty="0"/>
          </a:p>
        </p:txBody>
      </p:sp>
      <p:sp>
        <p:nvSpPr>
          <p:cNvPr id="10" name="Shape 6"/>
          <p:cNvSpPr/>
          <p:nvPr/>
        </p:nvSpPr>
        <p:spPr>
          <a:xfrm>
            <a:off x="6729002" y="2539621"/>
            <a:ext cx="230847" cy="336054"/>
          </a:xfrm>
          <a:prstGeom prst="roundRect">
            <a:avLst>
              <a:gd name="adj" fmla="val 22672649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ru-RU" sz="15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4463" y="2675831"/>
            <a:ext cx="151209" cy="1512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54952" y="2614514"/>
            <a:ext cx="1931727" cy="26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500" dirty="0" err="1">
                <a:solidFill>
                  <a:srgbClr val="405449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Транспорт</a:t>
            </a:r>
            <a:r>
              <a:rPr lang="en-US" sz="1500" b="1" dirty="0">
                <a:solidFill>
                  <a:srgbClr val="405449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>
                <a:solidFill>
                  <a:srgbClr val="405449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и</a:t>
            </a:r>
            <a:r>
              <a:rPr lang="ru-RU" sz="1500" dirty="0">
                <a:solidFill>
                  <a:srgbClr val="405449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хранение</a:t>
            </a:r>
            <a:endParaRPr lang="en-US" sz="15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623649" y="2994792"/>
            <a:ext cx="446493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Рост занятости на +27%.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551953" y="3420765"/>
            <a:ext cx="4618836" cy="1093391"/>
          </a:xfrm>
          <a:prstGeom prst="roundRect">
            <a:avLst>
              <a:gd name="adj" fmla="val 92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 sz="1500" dirty="0"/>
          </a:p>
        </p:txBody>
      </p:sp>
      <p:sp>
        <p:nvSpPr>
          <p:cNvPr id="15" name="Shape 10"/>
          <p:cNvSpPr/>
          <p:nvPr/>
        </p:nvSpPr>
        <p:spPr>
          <a:xfrm>
            <a:off x="6733848" y="3622328"/>
            <a:ext cx="230847" cy="336054"/>
          </a:xfrm>
          <a:prstGeom prst="roundRect">
            <a:avLst>
              <a:gd name="adj" fmla="val 22672649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ru-RU" sz="15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0210" y="3947671"/>
            <a:ext cx="151209" cy="15120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54952" y="3713581"/>
            <a:ext cx="3612841" cy="23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ru-RU" sz="1167" dirty="0"/>
              <a:t>Деятельность в области здравохранения и социальных услуг</a:t>
            </a:r>
            <a:endParaRPr lang="en-US" sz="1167" dirty="0"/>
          </a:p>
        </p:txBody>
      </p:sp>
      <p:sp>
        <p:nvSpPr>
          <p:cNvPr id="18" name="Text 12"/>
          <p:cNvSpPr/>
          <p:nvPr/>
        </p:nvSpPr>
        <p:spPr>
          <a:xfrm>
            <a:off x="6628904" y="4236939"/>
            <a:ext cx="446493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Рост занятости на +17%.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587025" y="4640164"/>
            <a:ext cx="4618836" cy="1093391"/>
          </a:xfrm>
          <a:prstGeom prst="roundRect">
            <a:avLst>
              <a:gd name="adj" fmla="val 922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 sz="1500" dirty="0"/>
          </a:p>
        </p:txBody>
      </p:sp>
      <p:sp>
        <p:nvSpPr>
          <p:cNvPr id="20" name="Shape 14"/>
          <p:cNvSpPr/>
          <p:nvPr/>
        </p:nvSpPr>
        <p:spPr>
          <a:xfrm>
            <a:off x="6729002" y="4882257"/>
            <a:ext cx="230847" cy="336054"/>
          </a:xfrm>
          <a:prstGeom prst="roundRect">
            <a:avLst>
              <a:gd name="adj" fmla="val 22672649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ru-RU" sz="15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4463" y="5086648"/>
            <a:ext cx="151209" cy="15120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28904" y="5442348"/>
            <a:ext cx="446493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ru-RU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</a:t>
            </a:r>
            <a:r>
              <a:rPr lang="en-US" sz="15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ост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5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занятости</a:t>
            </a:r>
            <a:r>
              <a:rPr lang="ru-RU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на +8%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644149" y="5911553"/>
            <a:ext cx="6645898" cy="76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6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Экономика Санкт-Петербурга трансформируется в сторону высокотехнологичных и квалифицированных видов деятельности, снижается доля низкоквалифицированных рабочих профессий.</a:t>
            </a:r>
            <a:endParaRPr lang="en-US" sz="1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787320-01CD-ADBC-BFAA-682EA6539AD5}"/>
              </a:ext>
            </a:extLst>
          </p:cNvPr>
          <p:cNvSpPr txBox="1"/>
          <p:nvPr/>
        </p:nvSpPr>
        <p:spPr>
          <a:xfrm>
            <a:off x="161383" y="6390206"/>
            <a:ext cx="1135403" cy="451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167" i="1" dirty="0">
                <a:latin typeface="Times New Roman" panose="02020603050405020304" pitchFamily="18" charset="0"/>
                <a:ea typeface="Annai MN" pitchFamily="2" charset="0"/>
                <a:cs typeface="Times New Roman" panose="02020603050405020304" pitchFamily="18" charset="0"/>
              </a:rPr>
              <a:t>Санкт-Петербург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8BACD6E-4125-D769-EE7A-557AAA8CE269}"/>
              </a:ext>
            </a:extLst>
          </p:cNvPr>
          <p:cNvSpPr/>
          <p:nvPr/>
        </p:nvSpPr>
        <p:spPr>
          <a:xfrm>
            <a:off x="10581482" y="6448029"/>
            <a:ext cx="1525852" cy="335888"/>
          </a:xfrm>
          <a:prstGeom prst="rect">
            <a:avLst/>
          </a:prstGeom>
          <a:solidFill>
            <a:srgbClr val="FBFFFA"/>
          </a:solidFill>
          <a:ln>
            <a:solidFill>
              <a:srgbClr val="FB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E792136-374E-8B90-C59F-0E85FA136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86" y="1"/>
            <a:ext cx="5352686" cy="33267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19D40EC-D985-2FDD-5BE0-FBBA45DBEDCD}"/>
              </a:ext>
            </a:extLst>
          </p:cNvPr>
          <p:cNvSpPr txBox="1"/>
          <p:nvPr/>
        </p:nvSpPr>
        <p:spPr>
          <a:xfrm>
            <a:off x="7054952" y="4844555"/>
            <a:ext cx="34913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Обрабатывающие производства 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0642B113-75D5-1729-AE12-19AE704C3A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7" y="3324447"/>
            <a:ext cx="5369744" cy="312358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5810" y="-8028"/>
            <a:ext cx="896190" cy="102421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679435" y="636685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027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322" y="286246"/>
            <a:ext cx="6785968" cy="325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42"/>
              </a:lnSpc>
            </a:pPr>
            <a:r>
              <a:rPr lang="en-US" sz="2042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Динамика заработной платы и дифференциация</a:t>
            </a:r>
            <a:endParaRPr lang="en-US" sz="2042" dirty="0"/>
          </a:p>
        </p:txBody>
      </p:sp>
      <p:sp>
        <p:nvSpPr>
          <p:cNvPr id="3" name="Text 1"/>
          <p:cNvSpPr/>
          <p:nvPr/>
        </p:nvSpPr>
        <p:spPr>
          <a:xfrm>
            <a:off x="416322" y="871637"/>
            <a:ext cx="158690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667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Рост средней зарплаты</a:t>
            </a:r>
            <a:endParaRPr lang="en-US" sz="1667" dirty="0"/>
          </a:p>
        </p:txBody>
      </p:sp>
      <p:sp>
        <p:nvSpPr>
          <p:cNvPr id="4" name="Text 2"/>
          <p:cNvSpPr/>
          <p:nvPr/>
        </p:nvSpPr>
        <p:spPr>
          <a:xfrm>
            <a:off x="416322" y="1138238"/>
            <a:ext cx="555267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333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Увеличилась вдвое с 77,7 тыс. до 156,6 тыс. руб. за 2018–2024 гг.</a:t>
            </a:r>
            <a:endParaRPr lang="en-US" sz="1333" dirty="0"/>
          </a:p>
        </p:txBody>
      </p:sp>
      <p:sp>
        <p:nvSpPr>
          <p:cNvPr id="5" name="Text 3"/>
          <p:cNvSpPr/>
          <p:nvPr/>
        </p:nvSpPr>
        <p:spPr>
          <a:xfrm>
            <a:off x="416322" y="1408807"/>
            <a:ext cx="217755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667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Неравномерное распределение</a:t>
            </a:r>
            <a:endParaRPr lang="en-US" sz="1667" dirty="0"/>
          </a:p>
        </p:txBody>
      </p:sp>
      <p:sp>
        <p:nvSpPr>
          <p:cNvPr id="6" name="Text 4"/>
          <p:cNvSpPr/>
          <p:nvPr/>
        </p:nvSpPr>
        <p:spPr>
          <a:xfrm>
            <a:off x="416322" y="1675408"/>
            <a:ext cx="555267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292"/>
              </a:lnSpc>
              <a:buSzPct val="100000"/>
              <a:buChar char="•"/>
            </a:pPr>
            <a:r>
              <a:rPr lang="en-US" sz="1333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Добыча полезных ископаемых: 641,6 тыс. руб.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16320" y="1893937"/>
            <a:ext cx="555267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292"/>
              </a:lnSpc>
              <a:buSzPct val="100000"/>
              <a:buChar char="•"/>
            </a:pPr>
            <a:r>
              <a:rPr lang="en-US" sz="1333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Энергетика: 165,9 тыс. руб.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16322" y="2081213"/>
            <a:ext cx="555267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292"/>
              </a:lnSpc>
              <a:buSzPct val="100000"/>
              <a:buChar char="•"/>
            </a:pPr>
            <a:r>
              <a:rPr lang="en-US" sz="1333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Гостиничный и ресторанный бизнес: 53,4 тыс. руб.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416322" y="2351782"/>
            <a:ext cx="194379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667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Усиление дифференциации</a:t>
            </a:r>
            <a:endParaRPr lang="en-US" sz="1667" dirty="0"/>
          </a:p>
        </p:txBody>
      </p:sp>
      <p:sp>
        <p:nvSpPr>
          <p:cNvPr id="10" name="Text 8"/>
          <p:cNvSpPr/>
          <p:nvPr/>
        </p:nvSpPr>
        <p:spPr>
          <a:xfrm>
            <a:off x="416322" y="2618383"/>
            <a:ext cx="5552678" cy="33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6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Разрыв между максимальной и минимальной зарплатой вырос с 8 до 12 раз, что создает межсекторный дисбаланс.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6427655" y="4427141"/>
            <a:ext cx="5552678" cy="69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Высокооплачиваемые сектора (ИТ, энергетика) привлекают кадры из других отраслей, создавая давление на сферы с более низкой оплатой труда, такие как сервис, образование и здравоохранение.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27655" y="5126864"/>
            <a:ext cx="130115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667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Лидерство в СЗФО</a:t>
            </a:r>
            <a:endParaRPr lang="en-US" sz="1667" dirty="0"/>
          </a:p>
        </p:txBody>
      </p:sp>
      <p:sp>
        <p:nvSpPr>
          <p:cNvPr id="14" name="Text 11"/>
          <p:cNvSpPr/>
          <p:nvPr/>
        </p:nvSpPr>
        <p:spPr>
          <a:xfrm>
            <a:off x="6427655" y="5367206"/>
            <a:ext cx="5552678" cy="33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Санкт-Петербург входит в тройку лидеров по уровню заработной платы, превышая среднеокружной уровень на 14–19%.</a:t>
            </a:r>
            <a:endParaRPr lang="en-US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22C609-02B6-F0AF-75F1-30CC9D67879B}"/>
              </a:ext>
            </a:extLst>
          </p:cNvPr>
          <p:cNvSpPr txBox="1"/>
          <p:nvPr/>
        </p:nvSpPr>
        <p:spPr>
          <a:xfrm>
            <a:off x="359833" y="6371167"/>
            <a:ext cx="1333500" cy="4515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167" i="1" dirty="0">
                <a:latin typeface="Times New Roman" panose="02020603050405020304" pitchFamily="18" charset="0"/>
                <a:ea typeface="Annai MN" pitchFamily="2" charset="0"/>
                <a:cs typeface="Times New Roman" panose="02020603050405020304" pitchFamily="18" charset="0"/>
              </a:rPr>
              <a:t>Санкт-Петербург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1E2FE6D-7BA5-F047-33C4-B97C619D21C5}"/>
              </a:ext>
            </a:extLst>
          </p:cNvPr>
          <p:cNvSpPr/>
          <p:nvPr/>
        </p:nvSpPr>
        <p:spPr>
          <a:xfrm>
            <a:off x="10581482" y="6448029"/>
            <a:ext cx="1525852" cy="335888"/>
          </a:xfrm>
          <a:prstGeom prst="rect">
            <a:avLst/>
          </a:prstGeom>
          <a:solidFill>
            <a:srgbClr val="FBFFFA"/>
          </a:solidFill>
          <a:ln>
            <a:solidFill>
              <a:srgbClr val="FB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0FD301B-C845-3483-DF74-69435359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7" y="4560572"/>
            <a:ext cx="5630333" cy="1540025"/>
          </a:xfrm>
          <a:prstGeom prst="rect">
            <a:avLst/>
          </a:prstGeom>
        </p:spPr>
      </p:pic>
      <p:pic>
        <p:nvPicPr>
          <p:cNvPr id="1026" name="Picture 2" descr="Динамика средней зарплаты по основным отраслям Санкт-Петербурга (2018 и 2024)">
            <a:extLst>
              <a:ext uri="{FF2B5EF4-FFF2-40B4-BE49-F238E27FC236}">
                <a16:creationId xmlns:a16="http://schemas.microsoft.com/office/drawing/2014/main" id="{BD952D42-D251-2EE2-DEDA-18742DA19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026" y="486948"/>
            <a:ext cx="5793555" cy="386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5811" y="-63244"/>
            <a:ext cx="896190" cy="10242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93020" y="6412268"/>
            <a:ext cx="59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19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07979-AC88-D5E9-8826-186618B1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Swot-</a:t>
            </a:r>
            <a:r>
              <a:rPr lang="ru-RU" sz="4000" dirty="0"/>
              <a:t>анализ рынка труда Санкт-Петербурга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12A3CB-62E0-173B-C0CA-DE2501791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Сильные стороны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44AE89-A046-845D-C77E-6C212F1CB1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1700" dirty="0"/>
              <a:t>Экономически активное население и полная занятость. (+201,9 тыс., +6,6% с 2018 по 2024 год)</a:t>
            </a:r>
          </a:p>
          <a:p>
            <a:r>
              <a:rPr lang="ru-RU" sz="1700" dirty="0"/>
              <a:t>Низкий уровень зарегистрированной безработицы (1,5% в 2024 году)</a:t>
            </a:r>
          </a:p>
          <a:p>
            <a:r>
              <a:rPr lang="ru-RU" sz="1700" dirty="0"/>
              <a:t>Быстрое трудоустройство незанятого населения. (3,4 месяца в 2024 году по сравнению с 6,7 месяцами в среднем по России)</a:t>
            </a:r>
          </a:p>
          <a:p>
            <a:r>
              <a:rPr lang="ru-RU" sz="1700" dirty="0"/>
              <a:t>Рост численности специалистов высокой квалификации. (+8,1% с 2020 по 2024 год)</a:t>
            </a:r>
          </a:p>
          <a:p>
            <a:r>
              <a:rPr lang="ru-RU" sz="1700" dirty="0"/>
              <a:t>Высокие доходы населения (среднемесячная номинальная з/п 110 473 рубля в 2024 году)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D3BC9E-C8D4-75AA-734F-E82093A07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Слабые стороны 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B9E4DA-7C8E-15AF-50E9-FECD84B90B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ru-RU" sz="1700" dirty="0"/>
              <a:t>Структурный дефицит квалифицированной рабочей силы (На 10 вакансий приходится только 2,7 незанятых соискателей)</a:t>
            </a:r>
          </a:p>
          <a:p>
            <a:r>
              <a:rPr lang="ru-RU" sz="1700" dirty="0"/>
              <a:t>Критически высокая молодежная безработица (15-19 лет достигает 36,9% в 2024 году)</a:t>
            </a:r>
          </a:p>
          <a:p>
            <a:r>
              <a:rPr lang="ru-RU" sz="1700" dirty="0"/>
              <a:t>Снижение доли молодого населения (13,5% в 2024 году, а в 2015 году - 13,7%)</a:t>
            </a:r>
          </a:p>
          <a:p>
            <a:r>
              <a:rPr lang="ru-RU" sz="1700" dirty="0"/>
              <a:t>Увеличение доли пенсионного населения</a:t>
            </a:r>
            <a:r>
              <a:rPr lang="en-US" sz="1700" dirty="0"/>
              <a:t> (</a:t>
            </a:r>
            <a:r>
              <a:rPr lang="ru-RU" sz="1700" dirty="0"/>
              <a:t>32,3% в 2024 году, а в 2015 году - 26,0%)</a:t>
            </a:r>
          </a:p>
          <a:p>
            <a:r>
              <a:rPr lang="ru-RU" sz="1700" dirty="0"/>
              <a:t>Гендерные дисбалансы на рынке труда (Уровень безработицы среди женщин (1,7%) превышает показатель среди мужчин (1,3%) в 2024 год)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810" y="3689"/>
            <a:ext cx="896190" cy="10242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93020" y="6412268"/>
            <a:ext cx="59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4897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1ABAA-5BE8-4455-766F-CCF27DF4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FE006-8598-EADB-1760-6A886D93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Swot-</a:t>
            </a:r>
            <a:r>
              <a:rPr lang="ru-RU" sz="4000" dirty="0"/>
              <a:t>анализ рынка труда Санкт-Петербурга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59C407-DAEA-F3E7-5A14-53A9DD006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Возможности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797929-7F9F-D663-39BF-15BF47DBB6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Развитие системы профессиональной переподготовки. Государственная программа «Содействие занятости населения в Санкт-Петербурге» и национальный проект «Кадры» (2019-2030 гг.)</a:t>
            </a:r>
          </a:p>
          <a:p>
            <a:r>
              <a:rPr lang="ru-RU" dirty="0"/>
              <a:t>Цифровизация и развитие новых отраслей. Национальный проект «Производительность труда и поддержка занятости» (2018-2030 гг.)</a:t>
            </a:r>
          </a:p>
          <a:p>
            <a:r>
              <a:rPr lang="ru-RU" dirty="0"/>
              <a:t>Развитие гибких форм занятости. (Сокращение численности работников в режиме неполного рабочего времени -20,1% с 2021 по 2024 год)</a:t>
            </a:r>
          </a:p>
          <a:p>
            <a:r>
              <a:rPr lang="ru-RU" dirty="0"/>
              <a:t>Привлечение квалифицированных специалистов из других регионов.</a:t>
            </a:r>
            <a:endParaRPr lang="ru-RU" sz="17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85E1CD-9457-9877-D0A6-4917464F7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Угрозы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483EEA-02AF-250A-A113-6F90D6FDB6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Ограничение трудовой миграции</a:t>
            </a:r>
          </a:p>
          <a:p>
            <a:r>
              <a:rPr lang="ru-RU" sz="1800" dirty="0"/>
              <a:t>Демографическое старение и снижение естественного прироста</a:t>
            </a:r>
          </a:p>
          <a:p>
            <a:r>
              <a:rPr lang="ru-RU" sz="1800" dirty="0"/>
              <a:t>Возможность оттока предприятий в регионы с более благоприятной конъюнктурой</a:t>
            </a:r>
          </a:p>
          <a:p>
            <a:r>
              <a:rPr lang="ru-RU" sz="1800" dirty="0"/>
              <a:t>Структурные сдвиги и автоматизация отдельных отраслей</a:t>
            </a:r>
          </a:p>
          <a:p>
            <a:r>
              <a:rPr lang="ru-RU" sz="1800" dirty="0"/>
              <a:t>Несоответствие образовательных программ потребностям экономики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3020" y="6412268"/>
            <a:ext cx="59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308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D2A81-3D92-E031-001A-3FA1051C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Социально-экономические последствия низкой безработицы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1A5541-64F4-56CC-E12E-188F2A91D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1. Рост издержек на оплату труда и инфляция</a:t>
            </a:r>
          </a:p>
          <a:p>
            <a:pPr marL="0" indent="0">
              <a:buNone/>
            </a:pPr>
            <a:r>
              <a:rPr lang="ru-RU" dirty="0"/>
              <a:t>2. Ограничение инновационного развития</a:t>
            </a:r>
          </a:p>
          <a:p>
            <a:pPr marL="0" indent="0">
              <a:buNone/>
            </a:pPr>
            <a:r>
              <a:rPr lang="ru-RU" dirty="0"/>
              <a:t>3. Отток производства в другие регионы</a:t>
            </a:r>
          </a:p>
          <a:p>
            <a:pPr marL="0" indent="0">
              <a:buNone/>
            </a:pPr>
            <a:r>
              <a:rPr lang="ru-RU" dirty="0"/>
              <a:t>4. Социальное напряжение из-за острой конкуренции за кадры</a:t>
            </a:r>
          </a:p>
          <a:p>
            <a:pPr marL="0" indent="0">
              <a:buNone/>
            </a:pPr>
            <a:r>
              <a:rPr lang="ru-RU" dirty="0"/>
              <a:t>5. Исключение молодёжи без профессиональной подготовки</a:t>
            </a:r>
          </a:p>
          <a:p>
            <a:pPr marL="0" indent="0">
              <a:buNone/>
            </a:pPr>
            <a:r>
              <a:rPr lang="ru-RU" dirty="0"/>
              <a:t>6. Увеличение нагрузки на систему социальной поддержки</a:t>
            </a:r>
          </a:p>
          <a:p>
            <a:pPr marL="0" indent="0">
              <a:buNone/>
            </a:pPr>
            <a:r>
              <a:rPr lang="ru-RU" dirty="0"/>
              <a:t>7. Гендерное неравенство и снижение экономического участия женщин</a:t>
            </a:r>
          </a:p>
          <a:p>
            <a:pPr marL="0" indent="0">
              <a:buNone/>
            </a:pPr>
            <a:r>
              <a:rPr lang="ru-RU" dirty="0"/>
              <a:t>8. Демографический спад и долгосрочные риски</a:t>
            </a:r>
          </a:p>
          <a:p>
            <a:pPr marL="0" indent="0">
              <a:buNone/>
            </a:pPr>
            <a:r>
              <a:rPr lang="ru-RU" dirty="0"/>
              <a:t>9. Снижение эффективности подготовки кадров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810" y="0"/>
            <a:ext cx="896190" cy="10242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93020" y="6412268"/>
            <a:ext cx="59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6229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1FAD253-1500-0B19-166E-9979898E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4380" y="6366860"/>
            <a:ext cx="2743200" cy="365125"/>
          </a:xfrm>
        </p:spPr>
        <p:txBody>
          <a:bodyPr/>
          <a:lstStyle/>
          <a:p>
            <a:r>
              <a:rPr lang="ru-RU" sz="18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355D2-4326-EE5F-6974-A21FBD2DBE4B}"/>
              </a:ext>
            </a:extLst>
          </p:cNvPr>
          <p:cNvSpPr txBox="1"/>
          <p:nvPr/>
        </p:nvSpPr>
        <p:spPr>
          <a:xfrm>
            <a:off x="3048000" y="2344216"/>
            <a:ext cx="6096000" cy="1084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42"/>
              </a:lnSpc>
            </a:pPr>
            <a:r>
              <a:rPr lang="ru-RU" sz="2800" b="1" dirty="0">
                <a:solidFill>
                  <a:srgbClr val="3B4540"/>
                </a:solidFill>
              </a:rPr>
              <a:t>Спасибо за внимание!</a:t>
            </a:r>
          </a:p>
          <a:p>
            <a:pPr algn="ctr">
              <a:lnSpc>
                <a:spcPts val="4042"/>
              </a:lnSpc>
            </a:pPr>
            <a:r>
              <a:rPr lang="ru-RU" sz="2800" b="1" dirty="0">
                <a:solidFill>
                  <a:srgbClr val="3B4540"/>
                </a:solidFill>
              </a:rPr>
              <a:t>Готовы отвечать на ваши вопросы</a:t>
            </a:r>
            <a:endParaRPr lang="en-US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1CABE1-64FB-8677-75B2-A724BB14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810" y="0"/>
            <a:ext cx="896190" cy="1024217"/>
          </a:xfrm>
          <a:prstGeom prst="rect">
            <a:avLst/>
          </a:prstGeom>
        </p:spPr>
      </p:pic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EB4C7EC-0A07-7128-E9E0-7EFE3D403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2002"/>
            <a:ext cx="3445998" cy="34459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233935-0883-E5C6-AE12-2DBA546653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916" b="13866"/>
          <a:stretch/>
        </p:blipFill>
        <p:spPr>
          <a:xfrm>
            <a:off x="6090441" y="4956835"/>
            <a:ext cx="6101559" cy="14100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027835-B6DC-93DF-91EC-B82431983D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244"/>
          <a:stretch/>
        </p:blipFill>
        <p:spPr>
          <a:xfrm>
            <a:off x="0" y="97168"/>
            <a:ext cx="7033182" cy="143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29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3071</Words>
  <Application>Microsoft Macintosh PowerPoint</Application>
  <PresentationFormat>Широкоэкранный</PresentationFormat>
  <Paragraphs>331</Paragraphs>
  <Slides>15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6" baseType="lpstr">
      <vt:lpstr>.SF UI</vt:lpstr>
      <vt:lpstr>.SFUI-Regular</vt:lpstr>
      <vt:lpstr>.SFUI-Semibold</vt:lpstr>
      <vt:lpstr>Arial</vt:lpstr>
      <vt:lpstr>Calibri</vt:lpstr>
      <vt:lpstr>Calibri Light</vt:lpstr>
      <vt:lpstr>Courier New</vt:lpstr>
      <vt:lpstr>Fraunces Extra Bold</vt:lpstr>
      <vt:lpstr>Nobile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Сравнение с другими субъектами СЗФО (за 2024 год)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Swot-анализ рынка труда Санкт-Петербурга</vt:lpstr>
      <vt:lpstr>Swot-анализ рынка труда Санкт-Петербурга</vt:lpstr>
      <vt:lpstr>Социально-экономические последствия низкой безработицы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Бекмурзаева Халима Муслимовна</cp:lastModifiedBy>
  <cp:revision>18</cp:revision>
  <dcterms:created xsi:type="dcterms:W3CDTF">2025-11-14T21:53:54Z</dcterms:created>
  <dcterms:modified xsi:type="dcterms:W3CDTF">2026-10-05T09:37:17Z</dcterms:modified>
</cp:coreProperties>
</file>